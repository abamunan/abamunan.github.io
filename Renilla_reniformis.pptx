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3" r:id="rId7"/>
    <p:sldId id="264" r:id="rId8"/>
    <p:sldId id="265" r:id="rId9"/>
    <p:sldId id="266" r:id="rId10"/>
    <p:sldId id="26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D8C958-EEB1-4916-B991-126B5CCBBDF7}" v="6" dt="2026-10-20T13:46:56.7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11" Type="http://schemas.openxmlformats.org/officeDocument/2006/relationships/slide" Target="slides/slide10.xml"/><Relationship Id="rId15" Type="http://schemas.openxmlformats.org/officeDocument/2006/relationships/tableStyles" Target="tableStyles.xml"/><Relationship Id="rId10" Type="http://schemas.openxmlformats.org/officeDocument/2006/relationships/slide" Target="slides/slide9.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userId="a9af88e4e912216c" providerId="LiveId" clId="{EAF78273-563F-432F-BDCC-46D58E4C2ACB}"/>
    <pc:docChg chg="undo custSel addSld delSld modSld sldOrd">
      <pc:chgData name="" userId="a9af88e4e912216c" providerId="LiveId" clId="{EAF78273-563F-432F-BDCC-46D58E4C2ACB}" dt="2026-10-20T13:46:55.933" v="241" actId="767"/>
      <pc:docMkLst>
        <pc:docMk/>
      </pc:docMkLst>
      <pc:sldChg chg="addSp delSp modSp mod">
        <pc:chgData name="" userId="a9af88e4e912216c" providerId="LiveId" clId="{EAF78273-563F-432F-BDCC-46D58E4C2ACB}" dt="2026-10-20T13:46:55.933" v="241" actId="767"/>
        <pc:sldMkLst>
          <pc:docMk/>
          <pc:sldMk cId="0" sldId="256"/>
        </pc:sldMkLst>
        <pc:spChg chg="add del mod">
          <ac:chgData name="" userId="a9af88e4e912216c" providerId="LiveId" clId="{EAF78273-563F-432F-BDCC-46D58E4C2ACB}" dt="2026-10-20T13:46:55.933" v="241" actId="767"/>
          <ac:spMkLst>
            <pc:docMk/>
            <pc:sldMk cId="0" sldId="256"/>
            <ac:spMk id="10" creationId="{AB7D5E9C-DE67-9DCC-BF9A-CB5153C222CB}"/>
          </ac:spMkLst>
        </pc:spChg>
      </pc:sldChg>
      <pc:sldChg chg="modSp mod ord modTransition">
        <pc:chgData name="" userId="a9af88e4e912216c" providerId="LiveId" clId="{EAF78273-563F-432F-BDCC-46D58E4C2ACB}" dt="2026-10-17T16:47:03.889" v="232" actId="13822"/>
        <pc:sldMkLst>
          <pc:docMk/>
          <pc:sldMk cId="0" sldId="258"/>
        </pc:sldMkLst>
        <pc:spChg chg="mod">
          <ac:chgData name="" userId="a9af88e4e912216c" providerId="LiveId" clId="{EAF78273-563F-432F-BDCC-46D58E4C2ACB}" dt="2026-10-17T16:47:03.889" v="232" actId="13822"/>
          <ac:spMkLst>
            <pc:docMk/>
            <pc:sldMk cId="0" sldId="258"/>
            <ac:spMk id="2" creationId="{00000000-0000-0000-0000-000000000000}"/>
          </ac:spMkLst>
        </pc:spChg>
        <pc:spChg chg="mod">
          <ac:chgData name="" userId="a9af88e4e912216c" providerId="LiveId" clId="{EAF78273-563F-432F-BDCC-46D58E4C2ACB}" dt="2026-10-17T16:43:52.689" v="224" actId="1076"/>
          <ac:spMkLst>
            <pc:docMk/>
            <pc:sldMk cId="0" sldId="258"/>
            <ac:spMk id="9" creationId="{00000000-0000-0000-0000-000000000000}"/>
          </ac:spMkLst>
        </pc:spChg>
        <pc:spChg chg="mod">
          <ac:chgData name="" userId="a9af88e4e912216c" providerId="LiveId" clId="{EAF78273-563F-432F-BDCC-46D58E4C2ACB}" dt="2026-10-17T16:44:52.309" v="225" actId="1076"/>
          <ac:spMkLst>
            <pc:docMk/>
            <pc:sldMk cId="0" sldId="258"/>
            <ac:spMk id="15" creationId="{00000000-0000-0000-0000-000000000000}"/>
          </ac:spMkLst>
        </pc:spChg>
      </pc:sldChg>
      <pc:sldChg chg="modSp mod ord modTransition">
        <pc:chgData name="" userId="a9af88e4e912216c" providerId="LiveId" clId="{EAF78273-563F-432F-BDCC-46D58E4C2ACB}" dt="2026-10-17T16:48:06.541" v="236" actId="13822"/>
        <pc:sldMkLst>
          <pc:docMk/>
          <pc:sldMk cId="0" sldId="259"/>
        </pc:sldMkLst>
        <pc:spChg chg="mod">
          <ac:chgData name="" userId="a9af88e4e912216c" providerId="LiveId" clId="{EAF78273-563F-432F-BDCC-46D58E4C2ACB}" dt="2026-10-17T16:48:06.541" v="236" actId="13822"/>
          <ac:spMkLst>
            <pc:docMk/>
            <pc:sldMk cId="0" sldId="259"/>
            <ac:spMk id="2" creationId="{00000000-0000-0000-0000-000000000000}"/>
          </ac:spMkLst>
        </pc:spChg>
      </pc:sldChg>
      <pc:sldChg chg="modSp mod ord modTransition">
        <pc:chgData name="" userId="a9af88e4e912216c" providerId="LiveId" clId="{EAF78273-563F-432F-BDCC-46D58E4C2ACB}" dt="2026-10-17T16:46:18.556" v="230" actId="14100"/>
        <pc:sldMkLst>
          <pc:docMk/>
          <pc:sldMk cId="0" sldId="260"/>
        </pc:sldMkLst>
        <pc:spChg chg="mod">
          <ac:chgData name="" userId="a9af88e4e912216c" providerId="LiveId" clId="{EAF78273-563F-432F-BDCC-46D58E4C2ACB}" dt="2026-10-17T16:45:22.845" v="226" actId="13822"/>
          <ac:spMkLst>
            <pc:docMk/>
            <pc:sldMk cId="0" sldId="260"/>
            <ac:spMk id="2" creationId="{00000000-0000-0000-0000-000000000000}"/>
          </ac:spMkLst>
        </pc:spChg>
        <pc:spChg chg="mod">
          <ac:chgData name="" userId="a9af88e4e912216c" providerId="LiveId" clId="{EAF78273-563F-432F-BDCC-46D58E4C2ACB}" dt="2026-10-17T16:46:18.556" v="230" actId="14100"/>
          <ac:spMkLst>
            <pc:docMk/>
            <pc:sldMk cId="0" sldId="260"/>
            <ac:spMk id="3" creationId="{00000000-0000-0000-0000-000000000000}"/>
          </ac:spMkLst>
        </pc:spChg>
      </pc:sldChg>
      <pc:sldChg chg="delSp modSp mod modTransition">
        <pc:chgData name="" userId="a9af88e4e912216c" providerId="LiveId" clId="{EAF78273-563F-432F-BDCC-46D58E4C2ACB}" dt="2026-10-14T18:58:15.428" v="223"/>
        <pc:sldMkLst>
          <pc:docMk/>
          <pc:sldMk cId="0" sldId="261"/>
        </pc:sldMkLst>
        <pc:spChg chg="mod">
          <ac:chgData name="" userId="a9af88e4e912216c" providerId="LiveId" clId="{EAF78273-563F-432F-BDCC-46D58E4C2ACB}" dt="2026-10-14T18:58:14.063" v="221" actId="1076"/>
          <ac:spMkLst>
            <pc:docMk/>
            <pc:sldMk cId="0" sldId="261"/>
            <ac:spMk id="8" creationId="{00000000-0000-0000-0000-000000000000}"/>
          </ac:spMkLst>
        </pc:spChg>
      </pc:sldChg>
      <pc:sldChg chg="modSp mod modTransition">
        <pc:chgData name="" userId="a9af88e4e912216c" providerId="LiveId" clId="{EAF78273-563F-432F-BDCC-46D58E4C2ACB}" dt="2026-10-17T16:47:53.927" v="235" actId="13822"/>
        <pc:sldMkLst>
          <pc:docMk/>
          <pc:sldMk cId="152870927" sldId="262"/>
        </pc:sldMkLst>
        <pc:spChg chg="mod">
          <ac:chgData name="" userId="a9af88e4e912216c" providerId="LiveId" clId="{EAF78273-563F-432F-BDCC-46D58E4C2ACB}" dt="2026-10-17T16:47:53.927" v="235" actId="13822"/>
          <ac:spMkLst>
            <pc:docMk/>
            <pc:sldMk cId="152870927" sldId="262"/>
            <ac:spMk id="2" creationId="{D69C2CA4-2C0A-0F81-4F3F-5C36D5B784C2}"/>
          </ac:spMkLst>
        </pc:spChg>
        <pc:spChg chg="mod">
          <ac:chgData name="" userId="a9af88e4e912216c" providerId="LiveId" clId="{EAF78273-563F-432F-BDCC-46D58E4C2ACB}" dt="2026-10-17T16:47:25.701" v="233" actId="1076"/>
          <ac:spMkLst>
            <pc:docMk/>
            <pc:sldMk cId="152870927" sldId="262"/>
            <ac:spMk id="29" creationId="{8EEF6E0C-83E0-5D7B-EB34-7C4E81567E50}"/>
          </ac:spMkLst>
        </pc:spChg>
        <pc:picChg chg="mod">
          <ac:chgData name="" userId="a9af88e4e912216c" providerId="LiveId" clId="{EAF78273-563F-432F-BDCC-46D58E4C2ACB}" dt="2026-10-17T16:47:30.048" v="234" actId="1076"/>
          <ac:picMkLst>
            <pc:docMk/>
            <pc:sldMk cId="152870927" sldId="262"/>
            <ac:picMk id="31" creationId="{39C3A2C6-1622-1C11-A129-1796DC13AFB2}"/>
          </ac:picMkLst>
        </pc:picChg>
      </pc:sldChg>
      <pc:sldChg chg="modSp add del mod modTransition">
        <pc:chgData name="" userId="a9af88e4e912216c" providerId="LiveId" clId="{EAF78273-563F-432F-BDCC-46D58E4C2ACB}" dt="2026-10-14T18:56:26.524" v="209"/>
        <pc:sldMkLst>
          <pc:docMk/>
          <pc:sldMk cId="717346350" sldId="263"/>
        </pc:sldMkLst>
        <pc:graphicFrameChg chg="modGraphic">
          <ac:chgData name="" userId="a9af88e4e912216c" providerId="LiveId" clId="{EAF78273-563F-432F-BDCC-46D58E4C2ACB}" dt="2026-10-14T18:37:35.821" v="2" actId="20577"/>
          <ac:graphicFrameMkLst>
            <pc:docMk/>
            <pc:sldMk cId="717346350" sldId="263"/>
            <ac:graphicFrameMk id="22" creationId="{F1A10909-E654-3A26-81CD-DC3308A44FA0}"/>
          </ac:graphicFrameMkLst>
        </pc:graphicFrameChg>
      </pc:sldChg>
      <pc:sldChg chg="addSp delSp modSp add mod modTransition">
        <pc:chgData name="" userId="a9af88e4e912216c" providerId="LiveId" clId="{EAF78273-563F-432F-BDCC-46D58E4C2ACB}" dt="2026-10-14T18:56:40.175" v="210"/>
        <pc:sldMkLst>
          <pc:docMk/>
          <pc:sldMk cId="3398561151" sldId="264"/>
        </pc:sldMkLst>
        <pc:spChg chg="mod">
          <ac:chgData name="" userId="a9af88e4e912216c" providerId="LiveId" clId="{EAF78273-563F-432F-BDCC-46D58E4C2ACB}" dt="2026-10-14T18:41:29.181" v="149"/>
          <ac:spMkLst>
            <pc:docMk/>
            <pc:sldMk cId="3398561151" sldId="264"/>
            <ac:spMk id="15" creationId="{B6A8E325-A0F1-5883-0195-526202A676B1}"/>
          </ac:spMkLst>
        </pc:spChg>
        <pc:spChg chg="mod">
          <ac:chgData name="" userId="a9af88e4e912216c" providerId="LiveId" clId="{EAF78273-563F-432F-BDCC-46D58E4C2ACB}" dt="2026-10-14T18:42:11.982" v="151"/>
          <ac:spMkLst>
            <pc:docMk/>
            <pc:sldMk cId="3398561151" sldId="264"/>
            <ac:spMk id="17" creationId="{520B1FDD-BF47-BBC4-44B6-1F2FA1DDBE1E}"/>
          </ac:spMkLst>
        </pc:spChg>
        <pc:spChg chg="mod">
          <ac:chgData name="" userId="a9af88e4e912216c" providerId="LiveId" clId="{EAF78273-563F-432F-BDCC-46D58E4C2ACB}" dt="2026-10-14T18:43:07.307" v="157" actId="20577"/>
          <ac:spMkLst>
            <pc:docMk/>
            <pc:sldMk cId="3398561151" sldId="264"/>
            <ac:spMk id="19" creationId="{1E474A05-A644-9552-4E70-603CDF056891}"/>
          </ac:spMkLst>
        </pc:spChg>
        <pc:spChg chg="add mod">
          <ac:chgData name="" userId="a9af88e4e912216c" providerId="LiveId" clId="{EAF78273-563F-432F-BDCC-46D58E4C2ACB}" dt="2026-10-14T18:43:47.478" v="161" actId="14100"/>
          <ac:spMkLst>
            <pc:docMk/>
            <pc:sldMk cId="3398561151" sldId="264"/>
            <ac:spMk id="20" creationId="{D7D672AD-99FE-BA8E-0C54-FC0AA70E491B}"/>
          </ac:spMkLst>
        </pc:spChg>
        <pc:spChg chg="mod">
          <ac:chgData name="" userId="a9af88e4e912216c" providerId="LiveId" clId="{EAF78273-563F-432F-BDCC-46D58E4C2ACB}" dt="2026-10-14T18:40:19.591" v="9" actId="20577"/>
          <ac:spMkLst>
            <pc:docMk/>
            <pc:sldMk cId="3398561151" sldId="264"/>
            <ac:spMk id="21" creationId="{781941DB-3764-0BAE-A20A-B571325F1A12}"/>
          </ac:spMkLst>
        </pc:spChg>
        <pc:spChg chg="add mod">
          <ac:chgData name="" userId="a9af88e4e912216c" providerId="LiveId" clId="{EAF78273-563F-432F-BDCC-46D58E4C2ACB}" dt="2026-10-14T18:44:04.735" v="165" actId="1076"/>
          <ac:spMkLst>
            <pc:docMk/>
            <pc:sldMk cId="3398561151" sldId="264"/>
            <ac:spMk id="22" creationId="{F70EA2A7-F45C-B7F6-E82E-41366A602991}"/>
          </ac:spMkLst>
        </pc:spChg>
        <pc:spChg chg="mod">
          <ac:chgData name="" userId="a9af88e4e912216c" providerId="LiveId" clId="{EAF78273-563F-432F-BDCC-46D58E4C2ACB}" dt="2026-10-14T18:41:04.851" v="77" actId="14100"/>
          <ac:spMkLst>
            <pc:docMk/>
            <pc:sldMk cId="3398561151" sldId="264"/>
            <ac:spMk id="23" creationId="{C3B8794C-1D27-AED1-5E61-832A9306404A}"/>
          </ac:spMkLst>
        </pc:spChg>
      </pc:sldChg>
      <pc:sldChg chg="modSp add mod ord modTransition">
        <pc:chgData name="" userId="a9af88e4e912216c" providerId="LiveId" clId="{EAF78273-563F-432F-BDCC-46D58E4C2ACB}" dt="2026-10-14T18:56:44.436" v="211"/>
        <pc:sldMkLst>
          <pc:docMk/>
          <pc:sldMk cId="2449376929" sldId="265"/>
        </pc:sldMkLst>
        <pc:spChg chg="mod">
          <ac:chgData name="" userId="a9af88e4e912216c" providerId="LiveId" clId="{EAF78273-563F-432F-BDCC-46D58E4C2ACB}" dt="2026-10-14T18:45:56.419" v="171" actId="255"/>
          <ac:spMkLst>
            <pc:docMk/>
            <pc:sldMk cId="2449376929" sldId="265"/>
            <ac:spMk id="15" creationId="{445C91A1-A6BE-729F-B579-17BA1BD3AD07}"/>
          </ac:spMkLst>
        </pc:spChg>
        <pc:spChg chg="mod">
          <ac:chgData name="" userId="a9af88e4e912216c" providerId="LiveId" clId="{EAF78273-563F-432F-BDCC-46D58E4C2ACB}" dt="2026-10-14T18:46:02.035" v="172" actId="255"/>
          <ac:spMkLst>
            <pc:docMk/>
            <pc:sldMk cId="2449376929" sldId="265"/>
            <ac:spMk id="17" creationId="{492798E9-F4F3-6233-5BBC-ABBB8D86A9CF}"/>
          </ac:spMkLst>
        </pc:spChg>
        <pc:spChg chg="mod">
          <ac:chgData name="" userId="a9af88e4e912216c" providerId="LiveId" clId="{EAF78273-563F-432F-BDCC-46D58E4C2ACB}" dt="2026-10-14T18:46:07.951" v="173" actId="255"/>
          <ac:spMkLst>
            <pc:docMk/>
            <pc:sldMk cId="2449376929" sldId="265"/>
            <ac:spMk id="19" creationId="{3C63163E-4A8A-DFF3-A108-2ECD33745741}"/>
          </ac:spMkLst>
        </pc:spChg>
      </pc:sldChg>
      <pc:sldChg chg="modSp add mod modTransition">
        <pc:chgData name="" userId="a9af88e4e912216c" providerId="LiveId" clId="{EAF78273-563F-432F-BDCC-46D58E4C2ACB}" dt="2026-10-14T18:56:52.099" v="212"/>
        <pc:sldMkLst>
          <pc:docMk/>
          <pc:sldMk cId="4070836377" sldId="266"/>
        </pc:sldMkLst>
        <pc:spChg chg="mod">
          <ac:chgData name="" userId="a9af88e4e912216c" providerId="LiveId" clId="{EAF78273-563F-432F-BDCC-46D58E4C2ACB}" dt="2026-10-14T18:47:57.173" v="181"/>
          <ac:spMkLst>
            <pc:docMk/>
            <pc:sldMk cId="4070836377" sldId="266"/>
            <ac:spMk id="14" creationId="{0F01FD79-0AE3-1D93-64E2-8C62A55C8D79}"/>
          </ac:spMkLst>
        </pc:spChg>
        <pc:spChg chg="mod">
          <ac:chgData name="" userId="a9af88e4e912216c" providerId="LiveId" clId="{EAF78273-563F-432F-BDCC-46D58E4C2ACB}" dt="2026-10-14T18:47:33.014" v="180" actId="20577"/>
          <ac:spMkLst>
            <pc:docMk/>
            <pc:sldMk cId="4070836377" sldId="266"/>
            <ac:spMk id="18" creationId="{1B853695-6272-1220-4AC8-E8C16918B04C}"/>
          </ac:spMkLst>
        </pc:spChg>
        <pc:spChg chg="mod">
          <ac:chgData name="" userId="a9af88e4e912216c" providerId="LiveId" clId="{EAF78273-563F-432F-BDCC-46D58E4C2ACB}" dt="2026-10-14T18:47:12.389" v="178"/>
          <ac:spMkLst>
            <pc:docMk/>
            <pc:sldMk cId="4070836377" sldId="266"/>
            <ac:spMk id="30" creationId="{D82F0AD2-5872-D6F2-64C9-04CA9EC71E8E}"/>
          </ac:spMkLst>
        </pc:spChg>
        <pc:spChg chg="mod">
          <ac:chgData name="" userId="a9af88e4e912216c" providerId="LiveId" clId="{EAF78273-563F-432F-BDCC-46D58E4C2ACB}" dt="2026-10-14T18:51:30.748" v="182"/>
          <ac:spMkLst>
            <pc:docMk/>
            <pc:sldMk cId="4070836377" sldId="266"/>
            <ac:spMk id="33" creationId="{8514A27D-EAB1-37B4-D765-F44C2A43F4A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sp>
        <p:nvSpPr>
          <p:cNvPr id="2" name="Rectangle 1"/>
          <p:cNvSpPr/>
          <p:nvPr/>
        </p:nvSpPr>
        <p:spPr>
          <a:xfrm>
            <a:off x="0" y="6334125"/>
            <a:ext cx="12192000" cy="523875"/>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304478" y="1557337"/>
            <a:ext cx="9571434" cy="3171825"/>
          </a:xfrm>
          <a:prstGeom prst="roundRect">
            <a:avLst>
              <a:gd name="adj" fmla="val 4804"/>
            </a:avLst>
          </a:prstGeom>
          <a:solidFill>
            <a:srgbClr val="FFFFFF"/>
          </a:solidFill>
          <a:ln w="381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34125"/>
            <a:ext cx="12192000" cy="952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09600" y="6496050"/>
            <a:ext cx="5262562" cy="209550"/>
          </a:xfrm>
          <a:prstGeom prst="rect">
            <a:avLst/>
          </a:prstGeom>
          <a:noFill/>
        </p:spPr>
        <p:txBody>
          <a:bodyPr wrap="none" lIns="0" tIns="0" rIns="0" bIns="0" anchor="t">
            <a:spAutoFit/>
          </a:bodyPr>
          <a:lstStyle/>
          <a:p>
            <a:pPr algn="l"/>
            <a:r>
              <a:rPr sz="1200" b="0" i="0">
                <a:solidFill>
                  <a:srgbClr val="737373"/>
                </a:solidFill>
                <a:latin typeface="Calibri"/>
              </a:rPr>
              <a:t>Dept. of Zoology, University of Dhaka</a:t>
            </a:r>
            <a:endParaRPr sz="1200">
              <a:solidFill>
                <a:srgbClr val="737373"/>
              </a:solidFill>
            </a:endParaRPr>
          </a:p>
        </p:txBody>
      </p:sp>
      <p:sp>
        <p:nvSpPr>
          <p:cNvPr id="6" name="TextBox 5"/>
          <p:cNvSpPr txBox="1"/>
          <p:nvPr/>
        </p:nvSpPr>
        <p:spPr>
          <a:xfrm>
            <a:off x="11115675" y="6496050"/>
            <a:ext cx="65" cy="369332"/>
          </a:xfrm>
          <a:prstGeom prst="rect">
            <a:avLst/>
          </a:prstGeom>
          <a:noFill/>
        </p:spPr>
        <p:txBody>
          <a:bodyPr wrap="none" lIns="0" tIns="0" rIns="0" bIns="0" anchor="t">
            <a:spAutoFit/>
          </a:bodyPr>
          <a:lstStyle/>
          <a:p>
            <a:pPr algn="l"/>
            <a:endParaRPr lang="en-US" sz="1200" dirty="0">
              <a:solidFill>
                <a:srgbClr val="737373"/>
              </a:solidFill>
              <a:latin typeface="Calibri"/>
            </a:endParaRPr>
          </a:p>
          <a:p>
            <a:pPr algn="l"/>
            <a:endParaRPr sz="1200" b="0" i="0" u="none" dirty="0">
              <a:solidFill>
                <a:srgbClr val="737373"/>
              </a:solidFill>
              <a:latin typeface="Calibri"/>
            </a:endParaRPr>
          </a:p>
        </p:txBody>
      </p:sp>
      <p:sp>
        <p:nvSpPr>
          <p:cNvPr id="7" name="TextBox 6"/>
          <p:cNvSpPr txBox="1"/>
          <p:nvPr/>
        </p:nvSpPr>
        <p:spPr>
          <a:xfrm>
            <a:off x="3730768" y="2305050"/>
            <a:ext cx="4730462" cy="738664"/>
          </a:xfrm>
          <a:prstGeom prst="rect">
            <a:avLst/>
          </a:prstGeom>
          <a:noFill/>
        </p:spPr>
        <p:txBody>
          <a:bodyPr wrap="none" lIns="0" tIns="0" rIns="0" bIns="0" anchor="t">
            <a:spAutoFit/>
          </a:bodyPr>
          <a:lstStyle/>
          <a:p>
            <a:pPr algn="ctr"/>
            <a:r>
              <a:rPr lang="en-US" sz="4800" b="1" dirty="0">
                <a:solidFill>
                  <a:srgbClr val="0F766E"/>
                </a:solidFill>
                <a:latin typeface="Georgia"/>
              </a:rPr>
              <a:t>Museum </a:t>
            </a:r>
            <a:r>
              <a:rPr sz="4800" b="1" i="0" u="none" dirty="0">
                <a:solidFill>
                  <a:srgbClr val="0F766E"/>
                </a:solidFill>
                <a:latin typeface="Georgia"/>
              </a:rPr>
              <a:t>Study</a:t>
            </a:r>
          </a:p>
        </p:txBody>
      </p:sp>
      <p:sp>
        <p:nvSpPr>
          <p:cNvPr id="8" name="TextBox 7"/>
          <p:cNvSpPr txBox="1"/>
          <p:nvPr/>
        </p:nvSpPr>
        <p:spPr>
          <a:xfrm>
            <a:off x="4900255" y="3152775"/>
            <a:ext cx="2391489" cy="369332"/>
          </a:xfrm>
          <a:prstGeom prst="rect">
            <a:avLst/>
          </a:prstGeom>
          <a:noFill/>
        </p:spPr>
        <p:txBody>
          <a:bodyPr wrap="none" lIns="0" tIns="0" rIns="0" bIns="0" anchor="t">
            <a:spAutoFit/>
          </a:bodyPr>
          <a:lstStyle/>
          <a:p>
            <a:pPr algn="ctr"/>
            <a:r>
              <a:rPr sz="2400" b="1" i="0">
                <a:solidFill>
                  <a:srgbClr val="D97706"/>
                </a:solidFill>
                <a:latin typeface="Calibri"/>
              </a:rPr>
              <a:t>[Phylum : Cnidaria]</a:t>
            </a:r>
            <a:endParaRPr sz="2400">
              <a:solidFill>
                <a:srgbClr val="D97706"/>
              </a:solidFill>
            </a:endParaRPr>
          </a:p>
        </p:txBody>
      </p:sp>
      <p:sp>
        <p:nvSpPr>
          <p:cNvPr id="9" name="TextBox 8"/>
          <p:cNvSpPr txBox="1"/>
          <p:nvPr/>
        </p:nvSpPr>
        <p:spPr>
          <a:xfrm>
            <a:off x="4839791" y="3714750"/>
            <a:ext cx="2512419" cy="553998"/>
          </a:xfrm>
          <a:prstGeom prst="rect">
            <a:avLst/>
          </a:prstGeom>
          <a:noFill/>
        </p:spPr>
        <p:txBody>
          <a:bodyPr wrap="none" lIns="0" tIns="0" rIns="0" bIns="0" anchor="t">
            <a:spAutoFit/>
          </a:bodyPr>
          <a:lstStyle/>
          <a:p>
            <a:pPr algn="ctr"/>
            <a:r>
              <a:rPr lang="en-US" sz="1800" b="0" i="1" u="none" dirty="0">
                <a:solidFill>
                  <a:srgbClr val="737373"/>
                </a:solidFill>
                <a:latin typeface="Calibri"/>
              </a:rPr>
              <a:t>Group 01, Dept. of Zoology</a:t>
            </a:r>
            <a:br>
              <a:rPr lang="en-US" sz="1800" b="0" i="1" u="none" dirty="0">
                <a:solidFill>
                  <a:srgbClr val="737373"/>
                </a:solidFill>
                <a:latin typeface="Calibri"/>
              </a:rPr>
            </a:br>
            <a:r>
              <a:rPr lang="en-US" sz="1800" b="0" i="1" u="none" dirty="0">
                <a:solidFill>
                  <a:srgbClr val="737373"/>
                </a:solidFill>
                <a:latin typeface="Calibri"/>
              </a:rPr>
              <a:t>University of Dhaka</a:t>
            </a:r>
            <a:endParaRPr sz="1800" b="0" i="1" u="none" dirty="0">
              <a:solidFill>
                <a:srgbClr val="737373"/>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a:extLst>
            <a:ext uri="{FF2B5EF4-FFF2-40B4-BE49-F238E27FC236}">
              <a16:creationId xmlns:a16="http://schemas.microsoft.com/office/drawing/2014/main" id="{DB5C078A-0D1A-1A77-E646-1D24799ADE1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D4C5FD8-D44E-92BD-9D63-6038B8DEE269}"/>
              </a:ext>
            </a:extLst>
          </p:cNvPr>
          <p:cNvSpPr/>
          <p:nvPr/>
        </p:nvSpPr>
        <p:spPr>
          <a:xfrm>
            <a:off x="0" y="0"/>
            <a:ext cx="12192000" cy="8572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69DCFEC3-9F4A-1539-D7AE-3732A5EFD270}"/>
              </a:ext>
            </a:extLst>
          </p:cNvPr>
          <p:cNvSpPr/>
          <p:nvPr/>
        </p:nvSpPr>
        <p:spPr>
          <a:xfrm>
            <a:off x="0" y="6334125"/>
            <a:ext cx="12192000" cy="523875"/>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04522A14-786B-1E34-5FCC-385B4988E258}"/>
              </a:ext>
            </a:extLst>
          </p:cNvPr>
          <p:cNvSpPr/>
          <p:nvPr/>
        </p:nvSpPr>
        <p:spPr>
          <a:xfrm>
            <a:off x="0" y="6334125"/>
            <a:ext cx="12192000" cy="952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a:extLst>
              <a:ext uri="{FF2B5EF4-FFF2-40B4-BE49-F238E27FC236}">
                <a16:creationId xmlns:a16="http://schemas.microsoft.com/office/drawing/2014/main" id="{BE2F394E-95AE-3FC6-E4A4-4CB2E519E71C}"/>
              </a:ext>
            </a:extLst>
          </p:cNvPr>
          <p:cNvSpPr/>
          <p:nvPr/>
        </p:nvSpPr>
        <p:spPr>
          <a:xfrm>
            <a:off x="609600" y="1452562"/>
            <a:ext cx="5181600" cy="4286250"/>
          </a:xfrm>
          <a:prstGeom prst="roundRect">
            <a:avLst>
              <a:gd name="adj" fmla="val 2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34AABB24-2403-323B-CE64-16F2D4B4C987}"/>
              </a:ext>
            </a:extLst>
          </p:cNvPr>
          <p:cNvSpPr/>
          <p:nvPr/>
        </p:nvSpPr>
        <p:spPr>
          <a:xfrm>
            <a:off x="8214270" y="2886075"/>
            <a:ext cx="3368129" cy="9525"/>
          </a:xfrm>
          <a:prstGeom prst="rect">
            <a:avLst/>
          </a:prstGeom>
          <a:solidFill>
            <a:srgbClr val="D4D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a:extLst>
              <a:ext uri="{FF2B5EF4-FFF2-40B4-BE49-F238E27FC236}">
                <a16:creationId xmlns:a16="http://schemas.microsoft.com/office/drawing/2014/main" id="{16292BA9-D447-D3E9-BA43-AE5C903E76A5}"/>
              </a:ext>
            </a:extLst>
          </p:cNvPr>
          <p:cNvSpPr/>
          <p:nvPr/>
        </p:nvSpPr>
        <p:spPr>
          <a:xfrm>
            <a:off x="8214270" y="3581400"/>
            <a:ext cx="3368129" cy="9525"/>
          </a:xfrm>
          <a:prstGeom prst="rect">
            <a:avLst/>
          </a:prstGeom>
          <a:solidFill>
            <a:srgbClr val="D4D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6C8E81EE-ED46-E9A2-A61B-1A5AAA85876B}"/>
              </a:ext>
            </a:extLst>
          </p:cNvPr>
          <p:cNvSpPr/>
          <p:nvPr/>
        </p:nvSpPr>
        <p:spPr>
          <a:xfrm>
            <a:off x="8214270" y="4276725"/>
            <a:ext cx="3368129" cy="9525"/>
          </a:xfrm>
          <a:prstGeom prst="rect">
            <a:avLst/>
          </a:prstGeom>
          <a:solidFill>
            <a:srgbClr val="D4D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a:extLst>
              <a:ext uri="{FF2B5EF4-FFF2-40B4-BE49-F238E27FC236}">
                <a16:creationId xmlns:a16="http://schemas.microsoft.com/office/drawing/2014/main" id="{25D2AAA3-DA3B-56A6-DC44-6D65810AD59F}"/>
              </a:ext>
            </a:extLst>
          </p:cNvPr>
          <p:cNvSpPr/>
          <p:nvPr/>
        </p:nvSpPr>
        <p:spPr>
          <a:xfrm>
            <a:off x="8214270" y="4972050"/>
            <a:ext cx="3368129" cy="9525"/>
          </a:xfrm>
          <a:prstGeom prst="rect">
            <a:avLst/>
          </a:prstGeom>
          <a:solidFill>
            <a:srgbClr val="D4D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2" name="Table 21">
            <a:extLst>
              <a:ext uri="{FF2B5EF4-FFF2-40B4-BE49-F238E27FC236}">
                <a16:creationId xmlns:a16="http://schemas.microsoft.com/office/drawing/2014/main" id="{F1A10909-E654-3A26-81CD-DC3308A44FA0}"/>
              </a:ext>
            </a:extLst>
          </p:cNvPr>
          <p:cNvGraphicFramePr>
            <a:graphicFrameLocks noGrp="1"/>
          </p:cNvGraphicFramePr>
          <p:nvPr>
            <p:extLst>
              <p:ext uri="{D42A27DB-BD31-4B8C-83A1-F6EECF244321}">
                <p14:modId xmlns:p14="http://schemas.microsoft.com/office/powerpoint/2010/main" val="1746324188"/>
              </p:ext>
            </p:extLst>
          </p:nvPr>
        </p:nvGraphicFramePr>
        <p:xfrm>
          <a:off x="6920870" y="2171403"/>
          <a:ext cx="5181599" cy="3869533"/>
        </p:xfrm>
        <a:graphic>
          <a:graphicData uri="http://schemas.openxmlformats.org/drawingml/2006/table">
            <a:tbl>
              <a:tblPr/>
              <a:tblGrid>
                <a:gridCol w="1813470">
                  <a:extLst>
                    <a:ext uri="{9D8B030D-6E8A-4147-A177-3AD203B41FA5}">
                      <a16:colId xmlns:a16="http://schemas.microsoft.com/office/drawing/2014/main" val="20000"/>
                    </a:ext>
                  </a:extLst>
                </a:gridCol>
                <a:gridCol w="3368129">
                  <a:extLst>
                    <a:ext uri="{9D8B030D-6E8A-4147-A177-3AD203B41FA5}">
                      <a16:colId xmlns:a16="http://schemas.microsoft.com/office/drawing/2014/main" val="20001"/>
                    </a:ext>
                  </a:extLst>
                </a:gridCol>
              </a:tblGrid>
              <a:tr h="358479">
                <a:tc>
                  <a:txBody>
                    <a:bodyPr/>
                    <a:lstStyle/>
                    <a:p>
                      <a:pPr algn="l"/>
                      <a:r>
                        <a:rPr sz="1950" b="1" i="0" u="none" dirty="0">
                          <a:solidFill>
                            <a:srgbClr val="0F766E"/>
                          </a:solidFill>
                          <a:latin typeface="Georgia"/>
                        </a:rPr>
                        <a:t>Phylum</a:t>
                      </a:r>
                      <a:r>
                        <a:rPr lang="en-US" sz="1950" b="1" i="0" u="none" dirty="0">
                          <a:solidFill>
                            <a:srgbClr val="0F766E"/>
                          </a:solidFill>
                          <a:latin typeface="Georgia"/>
                        </a:rPr>
                        <a:t>  :</a:t>
                      </a:r>
                      <a:endParaRPr sz="1950" b="1" i="0" u="none" dirty="0">
                        <a:solidFill>
                          <a:srgbClr val="0F766E"/>
                        </a:solidFill>
                        <a:latin typeface="Georgia"/>
                      </a:endParaRPr>
                    </a:p>
                  </a:txBody>
                  <a:tcPr marL="63500" marR="63500" marT="25400" marB="25400" anchor="ctr">
                    <a:lnL>
                      <a:noFill/>
                    </a:lnL>
                    <a:lnR>
                      <a:noFill/>
                    </a:lnR>
                    <a:lnT>
                      <a:noFill/>
                    </a:lnT>
                    <a:lnB>
                      <a:noFill/>
                    </a:lnB>
                    <a:solidFill>
                      <a:srgbClr val="FAFAF9"/>
                    </a:solidFill>
                  </a:tcPr>
                </a:tc>
                <a:tc>
                  <a:txBody>
                    <a:bodyPr/>
                    <a:lstStyle/>
                    <a:p>
                      <a:pPr algn="l"/>
                      <a:r>
                        <a:rPr sz="1950" b="0" i="0">
                          <a:solidFill>
                            <a:srgbClr val="27272A"/>
                          </a:solidFill>
                          <a:latin typeface="Calibri"/>
                        </a:rPr>
                        <a:t>Cnidaria</a:t>
                      </a:r>
                      <a:endParaRPr sz="1950"/>
                    </a:p>
                  </a:txBody>
                  <a:tcPr marL="63500" marR="63500" marT="25400" marB="25400" anchor="ctr">
                    <a:lnL>
                      <a:noFill/>
                    </a:lnL>
                    <a:lnR>
                      <a:noFill/>
                    </a:lnR>
                    <a:lnT>
                      <a:noFill/>
                    </a:lnT>
                    <a:lnB>
                      <a:noFill/>
                    </a:lnB>
                    <a:solidFill>
                      <a:srgbClr val="FAFAF9"/>
                    </a:solidFill>
                  </a:tcPr>
                </a:tc>
                <a:extLst>
                  <a:ext uri="{0D108BD9-81ED-4DB2-BD59-A6C34878D82A}">
                    <a16:rowId xmlns:a16="http://schemas.microsoft.com/office/drawing/2014/main" val="10000"/>
                  </a:ext>
                </a:extLst>
              </a:tr>
              <a:tr h="645834">
                <a:tc>
                  <a:txBody>
                    <a:bodyPr/>
                    <a:lstStyle/>
                    <a:p>
                      <a:pPr algn="l"/>
                      <a:r>
                        <a:rPr sz="1950" b="1" i="0" u="none" dirty="0">
                          <a:solidFill>
                            <a:srgbClr val="0F766E"/>
                          </a:solidFill>
                          <a:latin typeface="Georgia"/>
                        </a:rPr>
                        <a:t>Class</a:t>
                      </a:r>
                      <a:r>
                        <a:rPr lang="en-US" sz="1950" b="1" i="0" u="none" dirty="0">
                          <a:solidFill>
                            <a:srgbClr val="0F766E"/>
                          </a:solidFill>
                          <a:latin typeface="Georgia"/>
                        </a:rPr>
                        <a:t>       :</a:t>
                      </a:r>
                      <a:endParaRPr sz="1950" b="1" i="0" u="none" dirty="0">
                        <a:solidFill>
                          <a:srgbClr val="0F766E"/>
                        </a:solidFill>
                        <a:latin typeface="Georgia"/>
                      </a:endParaRPr>
                    </a:p>
                  </a:txBody>
                  <a:tcPr marL="63500" marR="63500" marT="25400" marB="25400" anchor="ctr">
                    <a:lnL>
                      <a:noFill/>
                    </a:lnL>
                    <a:lnR>
                      <a:noFill/>
                    </a:lnR>
                    <a:lnT>
                      <a:noFill/>
                    </a:lnT>
                    <a:lnB>
                      <a:noFill/>
                    </a:lnB>
                    <a:solidFill>
                      <a:srgbClr val="FAFAF9"/>
                    </a:solidFill>
                  </a:tcPr>
                </a:tc>
                <a:tc>
                  <a:txBody>
                    <a:bodyPr/>
                    <a:lstStyle/>
                    <a:p>
                      <a:pPr algn="l"/>
                      <a:r>
                        <a:rPr sz="1950" b="0" i="0">
                          <a:solidFill>
                            <a:srgbClr val="27272A"/>
                          </a:solidFill>
                          <a:latin typeface="Calibri"/>
                        </a:rPr>
                        <a:t>Anthozoa</a:t>
                      </a:r>
                      <a:endParaRPr sz="1950"/>
                    </a:p>
                  </a:txBody>
                  <a:tcPr marL="63500" marR="63500" marT="25400" marB="25400" anchor="ctr">
                    <a:lnL>
                      <a:noFill/>
                    </a:lnL>
                    <a:lnR>
                      <a:noFill/>
                    </a:lnR>
                    <a:lnT>
                      <a:noFill/>
                    </a:lnT>
                    <a:lnB>
                      <a:noFill/>
                    </a:lnB>
                    <a:solidFill>
                      <a:srgbClr val="FAFAF9"/>
                    </a:solidFill>
                  </a:tcPr>
                </a:tc>
                <a:extLst>
                  <a:ext uri="{0D108BD9-81ED-4DB2-BD59-A6C34878D82A}">
                    <a16:rowId xmlns:a16="http://schemas.microsoft.com/office/drawing/2014/main" val="10001"/>
                  </a:ext>
                </a:extLst>
              </a:tr>
              <a:tr h="716305">
                <a:tc>
                  <a:txBody>
                    <a:bodyPr/>
                    <a:lstStyle/>
                    <a:p>
                      <a:pPr algn="l"/>
                      <a:r>
                        <a:rPr sz="1950" b="1" i="0" u="none" dirty="0">
                          <a:solidFill>
                            <a:srgbClr val="0F766E"/>
                          </a:solidFill>
                          <a:latin typeface="Georgia"/>
                        </a:rPr>
                        <a:t>Order</a:t>
                      </a:r>
                      <a:r>
                        <a:rPr lang="en-US" sz="1950" b="1" i="0" u="none" dirty="0">
                          <a:solidFill>
                            <a:srgbClr val="0F766E"/>
                          </a:solidFill>
                          <a:latin typeface="Georgia"/>
                        </a:rPr>
                        <a:t>     :</a:t>
                      </a:r>
                      <a:endParaRPr sz="1950" b="1" i="0" u="none" dirty="0">
                        <a:solidFill>
                          <a:srgbClr val="0F766E"/>
                        </a:solidFill>
                        <a:latin typeface="Georgia"/>
                      </a:endParaRPr>
                    </a:p>
                  </a:txBody>
                  <a:tcPr marL="63500" marR="63500" marT="25400" marB="25400" anchor="ctr">
                    <a:lnL>
                      <a:noFill/>
                    </a:lnL>
                    <a:lnR>
                      <a:noFill/>
                    </a:lnR>
                    <a:lnT>
                      <a:noFill/>
                    </a:lnT>
                    <a:lnB>
                      <a:noFill/>
                    </a:lnB>
                    <a:solidFill>
                      <a:srgbClr val="FAFAF9"/>
                    </a:solidFill>
                  </a:tcPr>
                </a:tc>
                <a:tc>
                  <a:txBody>
                    <a:bodyPr/>
                    <a:lstStyle/>
                    <a:p>
                      <a:pPr algn="l"/>
                      <a:r>
                        <a:rPr sz="1950" b="0" i="0">
                          <a:solidFill>
                            <a:srgbClr val="27272A"/>
                          </a:solidFill>
                          <a:latin typeface="Calibri"/>
                        </a:rPr>
                        <a:t>Pennatulacea</a:t>
                      </a:r>
                      <a:endParaRPr sz="1950"/>
                    </a:p>
                  </a:txBody>
                  <a:tcPr marL="63500" marR="63500" marT="25400" marB="25400" anchor="ctr">
                    <a:lnL>
                      <a:noFill/>
                    </a:lnL>
                    <a:lnR>
                      <a:noFill/>
                    </a:lnR>
                    <a:lnT>
                      <a:noFill/>
                    </a:lnT>
                    <a:lnB>
                      <a:noFill/>
                    </a:lnB>
                    <a:solidFill>
                      <a:srgbClr val="FAFAF9"/>
                    </a:solidFill>
                  </a:tcPr>
                </a:tc>
                <a:extLst>
                  <a:ext uri="{0D108BD9-81ED-4DB2-BD59-A6C34878D82A}">
                    <a16:rowId xmlns:a16="http://schemas.microsoft.com/office/drawing/2014/main" val="10002"/>
                  </a:ext>
                </a:extLst>
              </a:tr>
              <a:tr h="716305">
                <a:tc>
                  <a:txBody>
                    <a:bodyPr/>
                    <a:lstStyle/>
                    <a:p>
                      <a:pPr algn="l"/>
                      <a:r>
                        <a:rPr sz="1950" b="1" i="0" u="none" dirty="0">
                          <a:solidFill>
                            <a:srgbClr val="0F766E"/>
                          </a:solidFill>
                          <a:latin typeface="Georgia"/>
                        </a:rPr>
                        <a:t>Family</a:t>
                      </a:r>
                      <a:r>
                        <a:rPr lang="en-US" sz="1950" b="1" i="0" u="none" dirty="0">
                          <a:solidFill>
                            <a:srgbClr val="0F766E"/>
                          </a:solidFill>
                          <a:latin typeface="Georgia"/>
                        </a:rPr>
                        <a:t>   :</a:t>
                      </a:r>
                      <a:endParaRPr sz="1950" b="1" i="0" u="none" dirty="0">
                        <a:solidFill>
                          <a:srgbClr val="0F766E"/>
                        </a:solidFill>
                        <a:latin typeface="Georgia"/>
                      </a:endParaRPr>
                    </a:p>
                  </a:txBody>
                  <a:tcPr marL="63500" marR="63500" marT="25400" marB="25400" anchor="ctr">
                    <a:lnL>
                      <a:noFill/>
                    </a:lnL>
                    <a:lnR>
                      <a:noFill/>
                    </a:lnR>
                    <a:lnT>
                      <a:noFill/>
                    </a:lnT>
                    <a:lnB>
                      <a:noFill/>
                    </a:lnB>
                    <a:solidFill>
                      <a:srgbClr val="FAFAF9"/>
                    </a:solidFill>
                  </a:tcPr>
                </a:tc>
                <a:tc>
                  <a:txBody>
                    <a:bodyPr/>
                    <a:lstStyle/>
                    <a:p>
                      <a:pPr algn="l"/>
                      <a:r>
                        <a:rPr sz="1950" b="0" i="0">
                          <a:solidFill>
                            <a:srgbClr val="27272A"/>
                          </a:solidFill>
                          <a:latin typeface="Calibri"/>
                        </a:rPr>
                        <a:t>Renillidae</a:t>
                      </a:r>
                      <a:endParaRPr sz="1950"/>
                    </a:p>
                  </a:txBody>
                  <a:tcPr marL="63500" marR="63500" marT="25400" marB="25400" anchor="ctr">
                    <a:lnL>
                      <a:noFill/>
                    </a:lnL>
                    <a:lnR>
                      <a:noFill/>
                    </a:lnR>
                    <a:lnT>
                      <a:noFill/>
                    </a:lnT>
                    <a:lnB>
                      <a:noFill/>
                    </a:lnB>
                    <a:solidFill>
                      <a:srgbClr val="FAFAF9"/>
                    </a:solidFill>
                  </a:tcPr>
                </a:tc>
                <a:extLst>
                  <a:ext uri="{0D108BD9-81ED-4DB2-BD59-A6C34878D82A}">
                    <a16:rowId xmlns:a16="http://schemas.microsoft.com/office/drawing/2014/main" val="10003"/>
                  </a:ext>
                </a:extLst>
              </a:tr>
              <a:tr h="716305">
                <a:tc>
                  <a:txBody>
                    <a:bodyPr/>
                    <a:lstStyle/>
                    <a:p>
                      <a:pPr algn="l"/>
                      <a:r>
                        <a:rPr sz="1950" b="1" i="0" u="none" dirty="0">
                          <a:solidFill>
                            <a:srgbClr val="0F766E"/>
                          </a:solidFill>
                          <a:latin typeface="Georgia"/>
                        </a:rPr>
                        <a:t>Genus</a:t>
                      </a:r>
                      <a:r>
                        <a:rPr lang="en-US" sz="1950" b="1" i="0" u="none" dirty="0">
                          <a:solidFill>
                            <a:srgbClr val="0F766E"/>
                          </a:solidFill>
                          <a:latin typeface="Georgia"/>
                        </a:rPr>
                        <a:t>    :</a:t>
                      </a:r>
                      <a:endParaRPr sz="1950" b="1" i="0" u="none" dirty="0">
                        <a:solidFill>
                          <a:srgbClr val="0F766E"/>
                        </a:solidFill>
                        <a:latin typeface="Georgia"/>
                      </a:endParaRPr>
                    </a:p>
                  </a:txBody>
                  <a:tcPr marL="63500" marR="63500" marT="25400" marB="25400" anchor="ctr">
                    <a:lnL>
                      <a:noFill/>
                    </a:lnL>
                    <a:lnR>
                      <a:noFill/>
                    </a:lnR>
                    <a:lnT>
                      <a:noFill/>
                    </a:lnT>
                    <a:lnB>
                      <a:noFill/>
                    </a:lnB>
                    <a:solidFill>
                      <a:srgbClr val="FAFAF9"/>
                    </a:solidFill>
                  </a:tcPr>
                </a:tc>
                <a:tc>
                  <a:txBody>
                    <a:bodyPr/>
                    <a:lstStyle/>
                    <a:p>
                      <a:pPr algn="l"/>
                      <a:r>
                        <a:rPr sz="1950" b="0" i="1">
                          <a:solidFill>
                            <a:srgbClr val="27272A"/>
                          </a:solidFill>
                          <a:latin typeface="Calibri"/>
                        </a:rPr>
                        <a:t>Renilla</a:t>
                      </a:r>
                      <a:endParaRPr sz="1950"/>
                    </a:p>
                  </a:txBody>
                  <a:tcPr marL="63500" marR="63500" marT="25400" marB="25400" anchor="ctr">
                    <a:lnL>
                      <a:noFill/>
                    </a:lnL>
                    <a:lnR>
                      <a:noFill/>
                    </a:lnR>
                    <a:lnT>
                      <a:noFill/>
                    </a:lnT>
                    <a:lnB>
                      <a:noFill/>
                    </a:lnB>
                    <a:solidFill>
                      <a:srgbClr val="FAFAF9"/>
                    </a:solidFill>
                  </a:tcPr>
                </a:tc>
                <a:extLst>
                  <a:ext uri="{0D108BD9-81ED-4DB2-BD59-A6C34878D82A}">
                    <a16:rowId xmlns:a16="http://schemas.microsoft.com/office/drawing/2014/main" val="10004"/>
                  </a:ext>
                </a:extLst>
              </a:tr>
              <a:tr h="716305">
                <a:tc>
                  <a:txBody>
                    <a:bodyPr/>
                    <a:lstStyle/>
                    <a:p>
                      <a:pPr algn="l"/>
                      <a:r>
                        <a:rPr sz="1950" b="1" i="0" u="none" dirty="0">
                          <a:solidFill>
                            <a:srgbClr val="0F766E"/>
                          </a:solidFill>
                          <a:latin typeface="Georgia"/>
                        </a:rPr>
                        <a:t>Species</a:t>
                      </a:r>
                      <a:r>
                        <a:rPr lang="en-US" sz="1950" b="1" i="0" u="none" dirty="0">
                          <a:solidFill>
                            <a:srgbClr val="0F766E"/>
                          </a:solidFill>
                          <a:latin typeface="Georgia"/>
                        </a:rPr>
                        <a:t>  :</a:t>
                      </a:r>
                      <a:endParaRPr sz="1950" b="1" i="0" u="none" dirty="0">
                        <a:solidFill>
                          <a:srgbClr val="0F766E"/>
                        </a:solidFill>
                        <a:latin typeface="Georgia"/>
                      </a:endParaRPr>
                    </a:p>
                  </a:txBody>
                  <a:tcPr marL="63500" marR="63500" marT="25400" marB="25400" anchor="ctr">
                    <a:lnL>
                      <a:noFill/>
                    </a:lnL>
                    <a:lnR>
                      <a:noFill/>
                    </a:lnR>
                    <a:lnT>
                      <a:noFill/>
                    </a:lnT>
                    <a:lnB>
                      <a:noFill/>
                    </a:lnB>
                    <a:solidFill>
                      <a:srgbClr val="FAFAF9"/>
                    </a:solidFill>
                  </a:tcPr>
                </a:tc>
                <a:tc>
                  <a:txBody>
                    <a:bodyPr/>
                    <a:lstStyle/>
                    <a:p>
                      <a:pPr algn="l"/>
                      <a:r>
                        <a:rPr sz="1950" b="0" i="1">
                          <a:solidFill>
                            <a:srgbClr val="27272A"/>
                          </a:solidFill>
                          <a:latin typeface="Calibri"/>
                        </a:rPr>
                        <a:t>R. reniformis</a:t>
                      </a:r>
                      <a:endParaRPr sz="1950"/>
                    </a:p>
                  </a:txBody>
                  <a:tcPr marL="63500" marR="63500" marT="25400" marB="25400" anchor="ctr">
                    <a:lnL>
                      <a:noFill/>
                    </a:lnL>
                    <a:lnR>
                      <a:noFill/>
                    </a:lnR>
                    <a:lnT>
                      <a:noFill/>
                    </a:lnT>
                    <a:lnB>
                      <a:noFill/>
                    </a:lnB>
                    <a:solidFill>
                      <a:srgbClr val="FAFAF9"/>
                    </a:solidFill>
                  </a:tcPr>
                </a:tc>
                <a:extLst>
                  <a:ext uri="{0D108BD9-81ED-4DB2-BD59-A6C34878D82A}">
                    <a16:rowId xmlns:a16="http://schemas.microsoft.com/office/drawing/2014/main" val="10005"/>
                  </a:ext>
                </a:extLst>
              </a:tr>
            </a:tbl>
          </a:graphicData>
        </a:graphic>
      </p:graphicFrame>
      <p:sp>
        <p:nvSpPr>
          <p:cNvPr id="23" name="TextBox 22">
            <a:extLst>
              <a:ext uri="{FF2B5EF4-FFF2-40B4-BE49-F238E27FC236}">
                <a16:creationId xmlns:a16="http://schemas.microsoft.com/office/drawing/2014/main" id="{F321FE2E-88D2-9BBB-5C90-428DD6700F1C}"/>
              </a:ext>
            </a:extLst>
          </p:cNvPr>
          <p:cNvSpPr txBox="1"/>
          <p:nvPr/>
        </p:nvSpPr>
        <p:spPr>
          <a:xfrm>
            <a:off x="609600" y="6496050"/>
            <a:ext cx="5262562" cy="209550"/>
          </a:xfrm>
          <a:prstGeom prst="rect">
            <a:avLst/>
          </a:prstGeom>
          <a:noFill/>
        </p:spPr>
        <p:txBody>
          <a:bodyPr wrap="none" lIns="0" tIns="0" rIns="0" bIns="0" anchor="t">
            <a:spAutoFit/>
          </a:bodyPr>
          <a:lstStyle/>
          <a:p>
            <a:pPr algn="l"/>
            <a:r>
              <a:rPr sz="1200" b="0" i="0">
                <a:solidFill>
                  <a:srgbClr val="737373"/>
                </a:solidFill>
                <a:latin typeface="Calibri"/>
              </a:rPr>
              <a:t>Dept. of Zoology, University of Dhaka</a:t>
            </a:r>
            <a:endParaRPr sz="1200">
              <a:solidFill>
                <a:srgbClr val="737373"/>
              </a:solidFill>
            </a:endParaRPr>
          </a:p>
        </p:txBody>
      </p:sp>
      <p:sp>
        <p:nvSpPr>
          <p:cNvPr id="24" name="TextBox 23">
            <a:extLst>
              <a:ext uri="{FF2B5EF4-FFF2-40B4-BE49-F238E27FC236}">
                <a16:creationId xmlns:a16="http://schemas.microsoft.com/office/drawing/2014/main" id="{0291FD9C-B599-43C6-8C34-034BEA2E1893}"/>
              </a:ext>
            </a:extLst>
          </p:cNvPr>
          <p:cNvSpPr txBox="1"/>
          <p:nvPr/>
        </p:nvSpPr>
        <p:spPr>
          <a:xfrm>
            <a:off x="11749520" y="6496050"/>
            <a:ext cx="113814" cy="369332"/>
          </a:xfrm>
          <a:prstGeom prst="rect">
            <a:avLst/>
          </a:prstGeom>
          <a:noFill/>
        </p:spPr>
        <p:txBody>
          <a:bodyPr wrap="none" lIns="0" tIns="0" rIns="0" bIns="0" anchor="t">
            <a:spAutoFit/>
          </a:bodyPr>
          <a:lstStyle/>
          <a:p>
            <a:pPr algn="l"/>
            <a:r>
              <a:rPr sz="1200" b="0" i="0">
                <a:solidFill>
                  <a:srgbClr val="737373"/>
                </a:solidFill>
                <a:latin typeface="Calibri"/>
              </a:rPr>
              <a:t>1</a:t>
            </a:r>
            <a:endParaRPr sz="1200">
              <a:solidFill>
                <a:srgbClr val="737373"/>
              </a:solidFill>
            </a:endParaRPr>
          </a:p>
        </p:txBody>
      </p:sp>
      <p:sp>
        <p:nvSpPr>
          <p:cNvPr id="25" name="TextBox 24">
            <a:extLst>
              <a:ext uri="{FF2B5EF4-FFF2-40B4-BE49-F238E27FC236}">
                <a16:creationId xmlns:a16="http://schemas.microsoft.com/office/drawing/2014/main" id="{01015DBC-B163-089C-D472-BF8C50EA42F3}"/>
              </a:ext>
            </a:extLst>
          </p:cNvPr>
          <p:cNvSpPr txBox="1"/>
          <p:nvPr/>
        </p:nvSpPr>
        <p:spPr>
          <a:xfrm>
            <a:off x="550637" y="259694"/>
            <a:ext cx="3279744" cy="430887"/>
          </a:xfrm>
          <a:prstGeom prst="rect">
            <a:avLst/>
          </a:prstGeom>
          <a:noFill/>
        </p:spPr>
        <p:txBody>
          <a:bodyPr wrap="none" lIns="0" tIns="0" rIns="0" bIns="0" anchor="t">
            <a:spAutoFit/>
          </a:bodyPr>
          <a:lstStyle/>
          <a:p>
            <a:pPr algn="l"/>
            <a:r>
              <a:rPr sz="2800" b="1" i="1">
                <a:solidFill>
                  <a:srgbClr val="FEF3C7"/>
                </a:solidFill>
                <a:latin typeface="Georgia"/>
              </a:rPr>
              <a:t>Renilla reniformis</a:t>
            </a:r>
            <a:endParaRPr sz="2800">
              <a:solidFill>
                <a:srgbClr val="FEF3C7"/>
              </a:solidFill>
            </a:endParaRPr>
          </a:p>
        </p:txBody>
      </p:sp>
      <p:sp>
        <p:nvSpPr>
          <p:cNvPr id="26" name="TextBox 25">
            <a:extLst>
              <a:ext uri="{FF2B5EF4-FFF2-40B4-BE49-F238E27FC236}">
                <a16:creationId xmlns:a16="http://schemas.microsoft.com/office/drawing/2014/main" id="{CFCB524A-F9E1-59EC-7229-2FB3E021A7DE}"/>
              </a:ext>
            </a:extLst>
          </p:cNvPr>
          <p:cNvSpPr txBox="1"/>
          <p:nvPr/>
        </p:nvSpPr>
        <p:spPr>
          <a:xfrm>
            <a:off x="3540621" y="938212"/>
            <a:ext cx="65" cy="369332"/>
          </a:xfrm>
          <a:prstGeom prst="rect">
            <a:avLst/>
          </a:prstGeom>
          <a:noFill/>
        </p:spPr>
        <p:txBody>
          <a:bodyPr wrap="none" lIns="0" tIns="0" rIns="0" bIns="0" anchor="t">
            <a:spAutoFit/>
          </a:bodyPr>
          <a:lstStyle/>
          <a:p>
            <a:pPr algn="l"/>
            <a:endParaRPr sz="2400" b="1" i="0" u="none" dirty="0">
              <a:solidFill>
                <a:srgbClr val="FFFFFF"/>
              </a:solidFill>
              <a:latin typeface="Georgia"/>
            </a:endParaRPr>
          </a:p>
        </p:txBody>
      </p:sp>
      <p:sp>
        <p:nvSpPr>
          <p:cNvPr id="29" name="TextBox 28">
            <a:extLst>
              <a:ext uri="{FF2B5EF4-FFF2-40B4-BE49-F238E27FC236}">
                <a16:creationId xmlns:a16="http://schemas.microsoft.com/office/drawing/2014/main" id="{FDE3AD86-58B4-5017-72D1-80814293DEA7}"/>
              </a:ext>
            </a:extLst>
          </p:cNvPr>
          <p:cNvSpPr txBox="1"/>
          <p:nvPr/>
        </p:nvSpPr>
        <p:spPr>
          <a:xfrm>
            <a:off x="609600" y="5688054"/>
            <a:ext cx="5181600" cy="253916"/>
          </a:xfrm>
          <a:prstGeom prst="rect">
            <a:avLst/>
          </a:prstGeom>
          <a:noFill/>
        </p:spPr>
        <p:txBody>
          <a:bodyPr wrap="none" lIns="0" tIns="0" rIns="0" bIns="0" anchor="t">
            <a:spAutoFit/>
          </a:bodyPr>
          <a:lstStyle/>
          <a:p>
            <a:pPr algn="ctr"/>
            <a:r>
              <a:rPr sz="1650" b="0" i="1">
                <a:solidFill>
                  <a:srgbClr val="525252"/>
                </a:solidFill>
                <a:latin typeface="Calibri"/>
              </a:rPr>
              <a:t>Fig: Renilla reniformis</a:t>
            </a:r>
            <a:endParaRPr sz="1650">
              <a:solidFill>
                <a:srgbClr val="525252"/>
              </a:solidFill>
            </a:endParaRPr>
          </a:p>
        </p:txBody>
      </p:sp>
      <p:sp>
        <p:nvSpPr>
          <p:cNvPr id="34" name="TextBox 33">
            <a:extLst>
              <a:ext uri="{FF2B5EF4-FFF2-40B4-BE49-F238E27FC236}">
                <a16:creationId xmlns:a16="http://schemas.microsoft.com/office/drawing/2014/main" id="{05FD67E7-47DA-E65E-8D1C-40BBE329D284}"/>
              </a:ext>
            </a:extLst>
          </p:cNvPr>
          <p:cNvSpPr txBox="1"/>
          <p:nvPr/>
        </p:nvSpPr>
        <p:spPr>
          <a:xfrm>
            <a:off x="415685" y="1005800"/>
            <a:ext cx="11069782" cy="461665"/>
          </a:xfrm>
          <a:prstGeom prst="rect">
            <a:avLst/>
          </a:prstGeom>
          <a:noFill/>
        </p:spPr>
        <p:txBody>
          <a:bodyPr wrap="square" rtlCol="0">
            <a:spAutoFit/>
          </a:bodyPr>
          <a:lstStyle/>
          <a:p>
            <a:pPr algn="l"/>
            <a:r>
              <a:rPr sz="2400" b="1">
                <a:solidFill>
                  <a:srgbClr val="0F766E"/>
                </a:solidFill>
                <a:latin typeface="Calibri"/>
              </a:rPr>
              <a:t>English Name :    </a:t>
            </a:r>
            <a:r>
              <a:rPr sz="2400" b="0">
                <a:solidFill>
                  <a:srgbClr val="27272A"/>
                </a:solidFill>
                <a:latin typeface="Calibri"/>
              </a:rPr>
              <a:t>Sea Pansy                                       </a:t>
            </a:r>
            <a:r>
              <a:rPr sz="2400" b="1">
                <a:solidFill>
                  <a:srgbClr val="0F766E"/>
                </a:solidFill>
                <a:latin typeface="Calibri"/>
              </a:rPr>
              <a:t>Local Name : </a:t>
            </a:r>
            <a:r>
              <a:rPr sz="2400" b="0">
                <a:solidFill>
                  <a:srgbClr val="27272A"/>
                </a:solidFill>
                <a:latin typeface="Calibri"/>
              </a:rPr>
              <a:t>Not available</a:t>
            </a:r>
            <a:endParaRPr sz="2400"/>
          </a:p>
        </p:txBody>
      </p:sp>
      <p:sp>
        <p:nvSpPr>
          <p:cNvPr id="35" name="TextBox 34">
            <a:extLst>
              <a:ext uri="{FF2B5EF4-FFF2-40B4-BE49-F238E27FC236}">
                <a16:creationId xmlns:a16="http://schemas.microsoft.com/office/drawing/2014/main" id="{C2C9D1CC-F0D5-2E21-5E68-52537EDA1AAE}"/>
              </a:ext>
            </a:extLst>
          </p:cNvPr>
          <p:cNvSpPr txBox="1"/>
          <p:nvPr/>
        </p:nvSpPr>
        <p:spPr>
          <a:xfrm>
            <a:off x="6734865" y="1610591"/>
            <a:ext cx="1995290" cy="461665"/>
          </a:xfrm>
          <a:prstGeom prst="rect">
            <a:avLst/>
          </a:prstGeom>
          <a:noFill/>
        </p:spPr>
        <p:txBody>
          <a:bodyPr wrap="square" rtlCol="0">
            <a:spAutoFit/>
          </a:bodyPr>
          <a:lstStyle/>
          <a:p>
            <a:r>
              <a:rPr lang="en-US" sz="2400" b="1" dirty="0">
                <a:solidFill>
                  <a:schemeClr val="tx2">
                    <a:lumMod val="60000"/>
                    <a:lumOff val="40000"/>
                  </a:schemeClr>
                </a:solidFill>
              </a:rPr>
              <a:t>Classification:</a:t>
            </a:r>
          </a:p>
        </p:txBody>
      </p:sp>
      <p:pic>
        <p:nvPicPr>
          <p:cNvPr id="6" name="Picture 5">
            <a:extLst>
              <a:ext uri="{FF2B5EF4-FFF2-40B4-BE49-F238E27FC236}">
                <a16:creationId xmlns:a16="http://schemas.microsoft.com/office/drawing/2014/main" id="{A88874B4-9149-AEA3-17EE-E45F43900DAD}"/>
              </a:ext>
            </a:extLst>
          </p:cNvPr>
          <p:cNvPicPr>
            <a:picLocks noChangeAspect="1"/>
          </p:cNvPicPr>
          <p:nvPr/>
        </p:nvPicPr>
        <p:blipFill>
          <a:blip r:embed="rId3"/>
          <a:stretch>
            <a:fillRect/>
          </a:stretch>
        </p:blipFill>
        <p:spPr>
          <a:xfrm>
            <a:off x="650400" y="1683187"/>
            <a:ext cx="5100000" cy="3825000"/>
          </a:xfrm>
          <a:prstGeom prst="rect">
            <a:avLst/>
          </a:prstGeom>
        </p:spPr>
      </p:pic>
    </p:spTree>
    <p:extLst>
      <p:ext uri="{BB962C8B-B14F-4D97-AF65-F5344CB8AC3E}">
        <p14:creationId xmlns:p14="http://schemas.microsoft.com/office/powerpoint/2010/main" val="7173463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a:extLst>
            <a:ext uri="{FF2B5EF4-FFF2-40B4-BE49-F238E27FC236}">
              <a16:creationId xmlns:a16="http://schemas.microsoft.com/office/drawing/2014/main" id="{69F9AA49-D70A-D96E-40D8-277B50E0FF6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9FF1D90-7B51-27C0-3341-CE0D8A5C53E7}"/>
              </a:ext>
            </a:extLst>
          </p:cNvPr>
          <p:cNvSpPr/>
          <p:nvPr/>
        </p:nvSpPr>
        <p:spPr>
          <a:xfrm>
            <a:off x="0" y="0"/>
            <a:ext cx="12192000" cy="8953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8BC3E1BA-6BFD-31F3-C074-D412BDB803C5}"/>
              </a:ext>
            </a:extLst>
          </p:cNvPr>
          <p:cNvSpPr/>
          <p:nvPr/>
        </p:nvSpPr>
        <p:spPr>
          <a:xfrm>
            <a:off x="0" y="6334125"/>
            <a:ext cx="12192000" cy="523875"/>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a:extLst>
              <a:ext uri="{FF2B5EF4-FFF2-40B4-BE49-F238E27FC236}">
                <a16:creationId xmlns:a16="http://schemas.microsoft.com/office/drawing/2014/main" id="{60BF9927-B0E4-3D45-7243-0B7867D5A4F1}"/>
              </a:ext>
            </a:extLst>
          </p:cNvPr>
          <p:cNvSpPr/>
          <p:nvPr/>
        </p:nvSpPr>
        <p:spPr>
          <a:xfrm>
            <a:off x="0" y="6334125"/>
            <a:ext cx="12192000" cy="952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39AED388-B38B-B968-A33E-7045973677A4}"/>
              </a:ext>
            </a:extLst>
          </p:cNvPr>
          <p:cNvSpPr txBox="1"/>
          <p:nvPr/>
        </p:nvSpPr>
        <p:spPr>
          <a:xfrm>
            <a:off x="609600" y="228600"/>
            <a:ext cx="3894627" cy="438150"/>
          </a:xfrm>
          <a:prstGeom prst="rect">
            <a:avLst/>
          </a:prstGeom>
          <a:noFill/>
        </p:spPr>
        <p:txBody>
          <a:bodyPr wrap="none" lIns="0" tIns="0" rIns="0" bIns="0" anchor="t">
            <a:spAutoFit/>
          </a:bodyPr>
          <a:lstStyle/>
          <a:p>
            <a:pPr algn="l"/>
            <a:r>
              <a:rPr sz="3000" b="1" i="0" u="none">
                <a:solidFill>
                  <a:srgbClr val="FFFFFF"/>
                </a:solidFill>
                <a:latin typeface="Georgia"/>
              </a:rPr>
              <a:t>Characteristics</a:t>
            </a:r>
          </a:p>
        </p:txBody>
      </p:sp>
      <p:sp>
        <p:nvSpPr>
          <p:cNvPr id="6" name="TextBox 5">
            <a:extLst>
              <a:ext uri="{FF2B5EF4-FFF2-40B4-BE49-F238E27FC236}">
                <a16:creationId xmlns:a16="http://schemas.microsoft.com/office/drawing/2014/main" id="{A0AF6DAE-0494-B16F-8BF1-CFA10AFCF43C}"/>
              </a:ext>
            </a:extLst>
          </p:cNvPr>
          <p:cNvSpPr txBox="1"/>
          <p:nvPr/>
        </p:nvSpPr>
        <p:spPr>
          <a:xfrm>
            <a:off x="609600" y="6496050"/>
            <a:ext cx="5262562" cy="209550"/>
          </a:xfrm>
          <a:prstGeom prst="rect">
            <a:avLst/>
          </a:prstGeom>
          <a:noFill/>
        </p:spPr>
        <p:txBody>
          <a:bodyPr wrap="none" lIns="0" tIns="0" rIns="0" bIns="0" anchor="t">
            <a:spAutoFit/>
          </a:bodyPr>
          <a:lstStyle/>
          <a:p>
            <a:pPr algn="l"/>
            <a:r>
              <a:rPr sz="1200" b="0" i="0">
                <a:solidFill>
                  <a:srgbClr val="737373"/>
                </a:solidFill>
                <a:latin typeface="Calibri"/>
              </a:rPr>
              <a:t>Dept. of Zoology, University of Dhaka</a:t>
            </a:r>
            <a:endParaRPr sz="1200">
              <a:solidFill>
                <a:srgbClr val="737373"/>
              </a:solidFill>
            </a:endParaRPr>
          </a:p>
        </p:txBody>
      </p:sp>
      <p:sp>
        <p:nvSpPr>
          <p:cNvPr id="7" name="TextBox 6">
            <a:extLst>
              <a:ext uri="{FF2B5EF4-FFF2-40B4-BE49-F238E27FC236}">
                <a16:creationId xmlns:a16="http://schemas.microsoft.com/office/drawing/2014/main" id="{32F05604-E081-469F-5D94-5BC075CA0FCD}"/>
              </a:ext>
            </a:extLst>
          </p:cNvPr>
          <p:cNvSpPr txBox="1"/>
          <p:nvPr/>
        </p:nvSpPr>
        <p:spPr>
          <a:xfrm>
            <a:off x="11853429" y="6496050"/>
            <a:ext cx="78548" cy="184666"/>
          </a:xfrm>
          <a:prstGeom prst="rect">
            <a:avLst/>
          </a:prstGeom>
          <a:noFill/>
        </p:spPr>
        <p:txBody>
          <a:bodyPr wrap="none" lIns="0" tIns="0" rIns="0" bIns="0" anchor="t">
            <a:spAutoFit/>
          </a:bodyPr>
          <a:lstStyle/>
          <a:p>
            <a:pPr algn="l"/>
            <a:r>
              <a:rPr sz="1200" b="0" i="0">
                <a:solidFill>
                  <a:srgbClr val="737373"/>
                </a:solidFill>
                <a:latin typeface="Calibri"/>
              </a:rPr>
              <a:t>2</a:t>
            </a:r>
            <a:endParaRPr sz="1200">
              <a:solidFill>
                <a:srgbClr val="737373"/>
              </a:solidFill>
            </a:endParaRPr>
          </a:p>
        </p:txBody>
      </p:sp>
      <p:sp>
        <p:nvSpPr>
          <p:cNvPr id="8" name="TextBox 7">
            <a:extLst>
              <a:ext uri="{FF2B5EF4-FFF2-40B4-BE49-F238E27FC236}">
                <a16:creationId xmlns:a16="http://schemas.microsoft.com/office/drawing/2014/main" id="{EE59CA62-B12B-890C-F5BD-931D2CD4A59E}"/>
              </a:ext>
            </a:extLst>
          </p:cNvPr>
          <p:cNvSpPr txBox="1"/>
          <p:nvPr/>
        </p:nvSpPr>
        <p:spPr>
          <a:xfrm>
            <a:off x="1050000" y="1620000"/>
            <a:ext cx="300000" cy="350000"/>
          </a:xfrm>
          <a:prstGeom prst="rect">
            <a:avLst/>
          </a:prstGeom>
          <a:noFill/>
        </p:spPr>
        <p:txBody>
          <a:bodyPr wrap="none" lIns="0" tIns="0" rIns="0" bIns="0" anchor="t">
            <a:spAutoFit/>
          </a:bodyPr>
          <a:lstStyle/>
          <a:p>
            <a:pPr algn="l"/>
            <a:r>
              <a:rPr sz="1800" b="1" i="0">
                <a:solidFill>
                  <a:srgbClr val="27272A"/>
                </a:solidFill>
                <a:latin typeface="Calibri"/>
              </a:rPr>
              <a:t>1.</a:t>
            </a:r>
            <a:endParaRPr sz="1800">
              <a:solidFill>
                <a:srgbClr val="27272A"/>
              </a:solidFill>
            </a:endParaRPr>
          </a:p>
        </p:txBody>
      </p:sp>
      <p:sp>
        <p:nvSpPr>
          <p:cNvPr id="9" name="TextBox 8">
            <a:extLst>
              <a:ext uri="{FF2B5EF4-FFF2-40B4-BE49-F238E27FC236}">
                <a16:creationId xmlns:a16="http://schemas.microsoft.com/office/drawing/2014/main" id="{BAB0B315-5E4D-6662-C86D-58C1BA690BA8}"/>
              </a:ext>
            </a:extLst>
          </p:cNvPr>
          <p:cNvSpPr txBox="1"/>
          <p:nvPr/>
        </p:nvSpPr>
        <p:spPr>
          <a:xfrm>
            <a:off x="1450000" y="1620000"/>
            <a:ext cx="9800000" cy="550000"/>
          </a:xfrm>
          <a:prstGeom prst="rect">
            <a:avLst/>
          </a:prstGeom>
          <a:noFill/>
        </p:spPr>
        <p:txBody>
          <a:bodyPr wrap="square" lIns="0" tIns="0" rIns="0" bIns="0" anchor="t">
            <a:spAutoFit/>
          </a:bodyPr>
          <a:lstStyle/>
          <a:p>
            <a:pPr algn="l"/>
            <a:r>
              <a:rPr sz="1800" b="0" i="0">
                <a:solidFill>
                  <a:srgbClr val="27272A"/>
                </a:solidFill>
                <a:latin typeface="Calibri"/>
              </a:rPr>
              <a:t>It belongs to Cnidaria because it possesses specialized cells called cnidocytes, which are used for capturing food and for defence.</a:t>
            </a:r>
            <a:endParaRPr sz="1800">
              <a:solidFill>
                <a:srgbClr val="27272A"/>
              </a:solidFill>
            </a:endParaRPr>
          </a:p>
        </p:txBody>
      </p:sp>
      <p:sp>
        <p:nvSpPr>
          <p:cNvPr id="10" name="TextBox 9">
            <a:extLst>
              <a:ext uri="{FF2B5EF4-FFF2-40B4-BE49-F238E27FC236}">
                <a16:creationId xmlns:a16="http://schemas.microsoft.com/office/drawing/2014/main" id="{5008CB43-D295-6283-D691-457549B07AC5}"/>
              </a:ext>
            </a:extLst>
          </p:cNvPr>
          <p:cNvSpPr txBox="1"/>
          <p:nvPr/>
        </p:nvSpPr>
        <p:spPr>
          <a:xfrm>
            <a:off x="1050000" y="2240000"/>
            <a:ext cx="300000" cy="350000"/>
          </a:xfrm>
          <a:prstGeom prst="rect">
            <a:avLst/>
          </a:prstGeom>
          <a:noFill/>
        </p:spPr>
        <p:txBody>
          <a:bodyPr wrap="none" lIns="0" tIns="0" rIns="0" bIns="0" anchor="t">
            <a:spAutoFit/>
          </a:bodyPr>
          <a:lstStyle/>
          <a:p>
            <a:pPr algn="l"/>
            <a:r>
              <a:rPr sz="1800" b="1" i="0">
                <a:solidFill>
                  <a:srgbClr val="27272A"/>
                </a:solidFill>
                <a:latin typeface="Calibri"/>
              </a:rPr>
              <a:t>2.</a:t>
            </a:r>
            <a:endParaRPr sz="1800">
              <a:solidFill>
                <a:srgbClr val="27272A"/>
              </a:solidFill>
            </a:endParaRPr>
          </a:p>
        </p:txBody>
      </p:sp>
      <p:sp>
        <p:nvSpPr>
          <p:cNvPr id="12" name="TextBox 11">
            <a:extLst>
              <a:ext uri="{FF2B5EF4-FFF2-40B4-BE49-F238E27FC236}">
                <a16:creationId xmlns:a16="http://schemas.microsoft.com/office/drawing/2014/main" id="{CEDE2FBA-F1A2-FD95-503C-FBC9343A4FF8}"/>
              </a:ext>
            </a:extLst>
          </p:cNvPr>
          <p:cNvSpPr txBox="1"/>
          <p:nvPr/>
        </p:nvSpPr>
        <p:spPr>
          <a:xfrm>
            <a:off x="1050000" y="2860000"/>
            <a:ext cx="300000" cy="350000"/>
          </a:xfrm>
          <a:prstGeom prst="rect">
            <a:avLst/>
          </a:prstGeom>
          <a:noFill/>
        </p:spPr>
        <p:txBody>
          <a:bodyPr wrap="none" lIns="0" tIns="0" rIns="0" bIns="0" anchor="t">
            <a:spAutoFit/>
          </a:bodyPr>
          <a:lstStyle/>
          <a:p>
            <a:pPr algn="l"/>
            <a:r>
              <a:rPr sz="1800" b="1" i="0">
                <a:solidFill>
                  <a:srgbClr val="27272A"/>
                </a:solidFill>
                <a:latin typeface="Calibri"/>
              </a:rPr>
              <a:t>3.</a:t>
            </a:r>
            <a:endParaRPr sz="1800">
              <a:solidFill>
                <a:srgbClr val="27272A"/>
              </a:solidFill>
            </a:endParaRPr>
          </a:p>
        </p:txBody>
      </p:sp>
      <p:sp>
        <p:nvSpPr>
          <p:cNvPr id="14" name="TextBox 13">
            <a:extLst>
              <a:ext uri="{FF2B5EF4-FFF2-40B4-BE49-F238E27FC236}">
                <a16:creationId xmlns:a16="http://schemas.microsoft.com/office/drawing/2014/main" id="{5C9E0C04-0D42-4F45-740B-4DE67AD57EED}"/>
              </a:ext>
            </a:extLst>
          </p:cNvPr>
          <p:cNvSpPr txBox="1"/>
          <p:nvPr/>
        </p:nvSpPr>
        <p:spPr>
          <a:xfrm>
            <a:off x="1050000" y="3480000"/>
            <a:ext cx="300000" cy="350000"/>
          </a:xfrm>
          <a:prstGeom prst="rect">
            <a:avLst/>
          </a:prstGeom>
          <a:noFill/>
        </p:spPr>
        <p:txBody>
          <a:bodyPr wrap="none" lIns="0" tIns="0" rIns="0" bIns="0" anchor="t">
            <a:spAutoFit/>
          </a:bodyPr>
          <a:lstStyle/>
          <a:p>
            <a:pPr algn="l"/>
            <a:r>
              <a:rPr sz="1800" b="1" i="0">
                <a:solidFill>
                  <a:srgbClr val="27272A"/>
                </a:solidFill>
                <a:latin typeface="Calibri"/>
              </a:rPr>
              <a:t>4.</a:t>
            </a:r>
            <a:endParaRPr sz="1800">
              <a:solidFill>
                <a:srgbClr val="27272A"/>
              </a:solidFill>
            </a:endParaRPr>
          </a:p>
        </p:txBody>
      </p:sp>
      <p:sp>
        <p:nvSpPr>
          <p:cNvPr id="15" name="TextBox 14">
            <a:extLst>
              <a:ext uri="{FF2B5EF4-FFF2-40B4-BE49-F238E27FC236}">
                <a16:creationId xmlns:a16="http://schemas.microsoft.com/office/drawing/2014/main" id="{B6A8E325-A0F1-5883-0195-526202A676B1}"/>
              </a:ext>
            </a:extLst>
          </p:cNvPr>
          <p:cNvSpPr txBox="1"/>
          <p:nvPr/>
        </p:nvSpPr>
        <p:spPr>
          <a:xfrm>
            <a:off x="1450000" y="3480000"/>
            <a:ext cx="9800000" cy="550000"/>
          </a:xfrm>
          <a:prstGeom prst="rect">
            <a:avLst/>
          </a:prstGeom>
          <a:noFill/>
        </p:spPr>
        <p:txBody>
          <a:bodyPr wrap="square" lIns="0" tIns="0" rIns="0" bIns="0" anchor="t">
            <a:spAutoFit/>
          </a:bodyPr>
          <a:lstStyle/>
          <a:p>
            <a:pPr algn="l"/>
            <a:r>
              <a:rPr sz="1800" b="0" i="0">
                <a:solidFill>
                  <a:srgbClr val="27272A"/>
                </a:solidFill>
                <a:latin typeface="Calibri"/>
              </a:rPr>
              <a:t>It belongs to Renillidae because its colony is flattened and leaf-like and lies on the sediment surface instead of standing erect.</a:t>
            </a:r>
            <a:endParaRPr sz="1800">
              <a:solidFill>
                <a:srgbClr val="27272A"/>
              </a:solidFill>
            </a:endParaRPr>
          </a:p>
        </p:txBody>
      </p:sp>
      <p:sp>
        <p:nvSpPr>
          <p:cNvPr id="16" name="TextBox 15">
            <a:extLst>
              <a:ext uri="{FF2B5EF4-FFF2-40B4-BE49-F238E27FC236}">
                <a16:creationId xmlns:a16="http://schemas.microsoft.com/office/drawing/2014/main" id="{ED0797ED-8A99-A078-EB06-FDF17D9A1904}"/>
              </a:ext>
            </a:extLst>
          </p:cNvPr>
          <p:cNvSpPr txBox="1"/>
          <p:nvPr/>
        </p:nvSpPr>
        <p:spPr>
          <a:xfrm>
            <a:off x="1050000" y="4100000"/>
            <a:ext cx="300000" cy="350000"/>
          </a:xfrm>
          <a:prstGeom prst="rect">
            <a:avLst/>
          </a:prstGeom>
          <a:noFill/>
        </p:spPr>
        <p:txBody>
          <a:bodyPr wrap="none" lIns="0" tIns="0" rIns="0" bIns="0" anchor="t">
            <a:spAutoFit/>
          </a:bodyPr>
          <a:lstStyle/>
          <a:p>
            <a:pPr algn="l"/>
            <a:r>
              <a:rPr sz="1800" b="1" i="0">
                <a:solidFill>
                  <a:srgbClr val="27272A"/>
                </a:solidFill>
                <a:latin typeface="Calibri"/>
              </a:rPr>
              <a:t>5.</a:t>
            </a:r>
            <a:endParaRPr sz="1800">
              <a:solidFill>
                <a:srgbClr val="27272A"/>
              </a:solidFill>
            </a:endParaRPr>
          </a:p>
        </p:txBody>
      </p:sp>
      <p:sp>
        <p:nvSpPr>
          <p:cNvPr id="17" name="TextBox 16">
            <a:extLst>
              <a:ext uri="{FF2B5EF4-FFF2-40B4-BE49-F238E27FC236}">
                <a16:creationId xmlns:a16="http://schemas.microsoft.com/office/drawing/2014/main" id="{520B1FDD-BF47-BBC4-44B6-1F2FA1DDBE1E}"/>
              </a:ext>
            </a:extLst>
          </p:cNvPr>
          <p:cNvSpPr txBox="1"/>
          <p:nvPr/>
        </p:nvSpPr>
        <p:spPr>
          <a:xfrm>
            <a:off x="1450000" y="4100000"/>
            <a:ext cx="9800000" cy="550000"/>
          </a:xfrm>
          <a:prstGeom prst="rect">
            <a:avLst/>
          </a:prstGeom>
          <a:noFill/>
        </p:spPr>
        <p:txBody>
          <a:bodyPr wrap="square" lIns="0" tIns="0" rIns="0" bIns="0" anchor="t">
            <a:spAutoFit/>
          </a:bodyPr>
          <a:lstStyle/>
          <a:p>
            <a:pPr algn="l"/>
            <a:r>
              <a:rPr sz="1800" b="0" i="0">
                <a:solidFill>
                  <a:srgbClr val="27272A"/>
                </a:solidFill>
                <a:latin typeface="Calibri"/>
              </a:rPr>
              <a:t>It has a single giant anchoring polyp (oozooid) that forms a muscular peduncle, which matches the genus Renilla.</a:t>
            </a:r>
            <a:endParaRPr sz="1800">
              <a:solidFill>
                <a:srgbClr val="27272A"/>
              </a:solidFill>
            </a:endParaRPr>
          </a:p>
        </p:txBody>
      </p:sp>
      <p:sp>
        <p:nvSpPr>
          <p:cNvPr id="18" name="TextBox 17">
            <a:extLst>
              <a:ext uri="{FF2B5EF4-FFF2-40B4-BE49-F238E27FC236}">
                <a16:creationId xmlns:a16="http://schemas.microsoft.com/office/drawing/2014/main" id="{B6ECDD84-33A5-EE7E-C7B4-DE1F77752A17}"/>
              </a:ext>
            </a:extLst>
          </p:cNvPr>
          <p:cNvSpPr txBox="1"/>
          <p:nvPr/>
        </p:nvSpPr>
        <p:spPr>
          <a:xfrm>
            <a:off x="1050000" y="4720000"/>
            <a:ext cx="300000" cy="350000"/>
          </a:xfrm>
          <a:prstGeom prst="rect">
            <a:avLst/>
          </a:prstGeom>
          <a:noFill/>
        </p:spPr>
        <p:txBody>
          <a:bodyPr wrap="none" lIns="0" tIns="0" rIns="0" bIns="0" anchor="t">
            <a:spAutoFit/>
          </a:bodyPr>
          <a:lstStyle/>
          <a:p>
            <a:pPr algn="l"/>
            <a:r>
              <a:rPr sz="1800" b="1" i="0">
                <a:solidFill>
                  <a:srgbClr val="27272A"/>
                </a:solidFill>
                <a:latin typeface="Calibri"/>
              </a:rPr>
              <a:t>6.</a:t>
            </a:r>
            <a:endParaRPr sz="1800">
              <a:solidFill>
                <a:srgbClr val="27272A"/>
              </a:solidFill>
            </a:endParaRPr>
          </a:p>
        </p:txBody>
      </p:sp>
      <p:sp>
        <p:nvSpPr>
          <p:cNvPr id="19" name="TextBox 18">
            <a:extLst>
              <a:ext uri="{FF2B5EF4-FFF2-40B4-BE49-F238E27FC236}">
                <a16:creationId xmlns:a16="http://schemas.microsoft.com/office/drawing/2014/main" id="{1E474A05-A644-9552-4E70-603CDF056891}"/>
              </a:ext>
            </a:extLst>
          </p:cNvPr>
          <p:cNvSpPr txBox="1"/>
          <p:nvPr/>
        </p:nvSpPr>
        <p:spPr>
          <a:xfrm>
            <a:off x="1450000" y="4720000"/>
            <a:ext cx="9800000" cy="550000"/>
          </a:xfrm>
          <a:prstGeom prst="rect">
            <a:avLst/>
          </a:prstGeom>
          <a:noFill/>
        </p:spPr>
        <p:txBody>
          <a:bodyPr wrap="square" lIns="0" tIns="0" rIns="0" bIns="0" anchor="t">
            <a:spAutoFit/>
          </a:bodyPr>
          <a:lstStyle/>
          <a:p>
            <a:pPr algn="l"/>
            <a:r>
              <a:rPr sz="1800" b="0" i="0">
                <a:solidFill>
                  <a:srgbClr val="27272A"/>
                </a:solidFill>
                <a:latin typeface="Calibri"/>
              </a:rPr>
              <a:t>It shows polyp dimorphism, with feeding polyps (autozooids) and smaller polyps (siphonozooids) that circulate water.</a:t>
            </a:r>
            <a:endParaRPr sz="1800">
              <a:solidFill>
                <a:srgbClr val="27272A"/>
              </a:solidFill>
            </a:endParaRPr>
          </a:p>
        </p:txBody>
      </p:sp>
      <p:sp>
        <p:nvSpPr>
          <p:cNvPr id="21" name="TextBox 20">
            <a:extLst>
              <a:ext uri="{FF2B5EF4-FFF2-40B4-BE49-F238E27FC236}">
                <a16:creationId xmlns:a16="http://schemas.microsoft.com/office/drawing/2014/main" id="{781941DB-3764-0BAE-A20A-B571325F1A12}"/>
              </a:ext>
            </a:extLst>
          </p:cNvPr>
          <p:cNvSpPr txBox="1"/>
          <p:nvPr/>
        </p:nvSpPr>
        <p:spPr>
          <a:xfrm>
            <a:off x="1450000" y="2240000"/>
            <a:ext cx="9800000" cy="550000"/>
          </a:xfrm>
          <a:prstGeom prst="rect">
            <a:avLst/>
          </a:prstGeom>
          <a:noFill/>
        </p:spPr>
        <p:txBody>
          <a:bodyPr wrap="square" lIns="0" tIns="0" rIns="0" bIns="0">
            <a:spAutoFit/>
          </a:bodyPr>
          <a:lstStyle/>
          <a:p>
            <a:pPr algn="l"/>
            <a:r>
              <a:rPr sz="1800" b="0" i="0">
                <a:solidFill>
                  <a:srgbClr val="27272A"/>
                </a:solidFill>
                <a:latin typeface="Calibri"/>
              </a:rPr>
              <a:t>It belongs to Anthozoa because it lives only as polyps and has no medusa stage.</a:t>
            </a:r>
            <a:endParaRPr sz="1800">
              <a:solidFill>
                <a:srgbClr val="27272A"/>
              </a:solidFill>
            </a:endParaRPr>
          </a:p>
        </p:txBody>
      </p:sp>
      <p:sp>
        <p:nvSpPr>
          <p:cNvPr id="23" name="TextBox 22">
            <a:extLst>
              <a:ext uri="{FF2B5EF4-FFF2-40B4-BE49-F238E27FC236}">
                <a16:creationId xmlns:a16="http://schemas.microsoft.com/office/drawing/2014/main" id="{C3B8794C-1D27-AED1-5E61-832A9306404A}"/>
              </a:ext>
            </a:extLst>
          </p:cNvPr>
          <p:cNvSpPr txBox="1"/>
          <p:nvPr/>
        </p:nvSpPr>
        <p:spPr>
          <a:xfrm>
            <a:off x="1450000" y="2860000"/>
            <a:ext cx="9800000" cy="550000"/>
          </a:xfrm>
          <a:prstGeom prst="rect">
            <a:avLst/>
          </a:prstGeom>
          <a:noFill/>
        </p:spPr>
        <p:txBody>
          <a:bodyPr wrap="square" lIns="0" tIns="0" rIns="0" bIns="0">
            <a:spAutoFit/>
          </a:bodyPr>
          <a:lstStyle/>
          <a:p>
            <a:pPr algn="l"/>
            <a:r>
              <a:rPr sz="1800" b="0" i="0">
                <a:solidFill>
                  <a:srgbClr val="27272A"/>
                </a:solidFill>
                <a:latin typeface="Calibri"/>
              </a:rPr>
              <a:t>It is placed in Pennatulacea because it is a sea pen colony that grows from a single primary polyp.</a:t>
            </a:r>
            <a:endParaRPr sz="1800">
              <a:solidFill>
                <a:srgbClr val="27272A"/>
              </a:solidFill>
            </a:endParaRPr>
          </a:p>
        </p:txBody>
      </p:sp>
      <p:sp>
        <p:nvSpPr>
          <p:cNvPr id="20" name="TextBox 19">
            <a:extLst>
              <a:ext uri="{FF2B5EF4-FFF2-40B4-BE49-F238E27FC236}">
                <a16:creationId xmlns:a16="http://schemas.microsoft.com/office/drawing/2014/main" id="{D7D672AD-99FE-BA8E-0C54-FC0AA70E491B}"/>
              </a:ext>
            </a:extLst>
          </p:cNvPr>
          <p:cNvSpPr txBox="1"/>
          <p:nvPr/>
        </p:nvSpPr>
        <p:spPr>
          <a:xfrm>
            <a:off x="1450000" y="5340000"/>
            <a:ext cx="9800000" cy="550000"/>
          </a:xfrm>
          <a:prstGeom prst="rect">
            <a:avLst/>
          </a:prstGeom>
          <a:noFill/>
        </p:spPr>
        <p:txBody>
          <a:bodyPr wrap="square" rtlCol="0" lIns="0" tIns="0" rIns="0" bIns="0">
            <a:spAutoFit/>
          </a:bodyPr>
          <a:lstStyle/>
          <a:p>
            <a:pPr algn="l"/>
            <a:r>
              <a:rPr sz="1800" b="0" i="0">
                <a:solidFill>
                  <a:srgbClr val="27272A"/>
                </a:solidFill>
                <a:latin typeface="Calibri"/>
              </a:rPr>
              <a:t>The species name reniformis refers to the kidney-shaped (reniform) outline of its colony.</a:t>
            </a:r>
            <a:endParaRPr sz="1800">
              <a:solidFill>
                <a:srgbClr val="27272A"/>
              </a:solidFill>
            </a:endParaRPr>
          </a:p>
        </p:txBody>
      </p:sp>
      <p:sp>
        <p:nvSpPr>
          <p:cNvPr id="22" name="TextBox 21">
            <a:extLst>
              <a:ext uri="{FF2B5EF4-FFF2-40B4-BE49-F238E27FC236}">
                <a16:creationId xmlns:a16="http://schemas.microsoft.com/office/drawing/2014/main" id="{F70EA2A7-F45C-B7F6-E82E-41366A602991}"/>
              </a:ext>
            </a:extLst>
          </p:cNvPr>
          <p:cNvSpPr txBox="1"/>
          <p:nvPr/>
        </p:nvSpPr>
        <p:spPr>
          <a:xfrm>
            <a:off x="1050000" y="5340000"/>
            <a:ext cx="300000" cy="350000"/>
          </a:xfrm>
          <a:prstGeom prst="rect">
            <a:avLst/>
          </a:prstGeom>
          <a:noFill/>
        </p:spPr>
        <p:txBody>
          <a:bodyPr wrap="none" rtlCol="0">
            <a:spAutoFit/>
          </a:bodyPr>
          <a:lstStyle/>
          <a:p>
            <a:pPr algn="l"/>
            <a:r>
              <a:rPr sz="1800" b="1" i="0">
                <a:solidFill>
                  <a:srgbClr val="27272A"/>
                </a:solidFill>
                <a:latin typeface="Calibri"/>
              </a:rPr>
              <a:t>7.</a:t>
            </a:r>
            <a:endParaRPr sz="1800">
              <a:solidFill>
                <a:srgbClr val="27272A"/>
              </a:solidFill>
            </a:endParaRPr>
          </a:p>
        </p:txBody>
      </p:sp>
    </p:spTree>
    <p:extLst>
      <p:ext uri="{BB962C8B-B14F-4D97-AF65-F5344CB8AC3E}">
        <p14:creationId xmlns:p14="http://schemas.microsoft.com/office/powerpoint/2010/main" val="339856115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a:extLst>
            <a:ext uri="{FF2B5EF4-FFF2-40B4-BE49-F238E27FC236}">
              <a16:creationId xmlns:a16="http://schemas.microsoft.com/office/drawing/2014/main" id="{67C6864D-0230-EF58-D607-F79D588D9B9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D7B4CD0-97A2-99F2-23EF-B345129B6CE3}"/>
              </a:ext>
            </a:extLst>
          </p:cNvPr>
          <p:cNvSpPr/>
          <p:nvPr/>
        </p:nvSpPr>
        <p:spPr>
          <a:xfrm>
            <a:off x="0" y="0"/>
            <a:ext cx="12192000" cy="8953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BF0B66C2-FAF3-3BAE-B3EA-D80F2EF66CC4}"/>
              </a:ext>
            </a:extLst>
          </p:cNvPr>
          <p:cNvSpPr/>
          <p:nvPr/>
        </p:nvSpPr>
        <p:spPr>
          <a:xfrm>
            <a:off x="0" y="6334125"/>
            <a:ext cx="12192000" cy="523875"/>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8E50BB80-A1F5-A123-5798-EBB92196CC84}"/>
              </a:ext>
            </a:extLst>
          </p:cNvPr>
          <p:cNvSpPr/>
          <p:nvPr/>
        </p:nvSpPr>
        <p:spPr>
          <a:xfrm>
            <a:off x="0" y="6334125"/>
            <a:ext cx="12192000" cy="952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a:extLst>
              <a:ext uri="{FF2B5EF4-FFF2-40B4-BE49-F238E27FC236}">
                <a16:creationId xmlns:a16="http://schemas.microsoft.com/office/drawing/2014/main" id="{D7E32E13-85D9-D503-7943-4B7D1BCD3578}"/>
              </a:ext>
            </a:extLst>
          </p:cNvPr>
          <p:cNvPicPr>
            <a:picLocks noChangeAspect="1"/>
          </p:cNvPicPr>
          <p:nvPr/>
        </p:nvPicPr>
        <p:blipFill>
          <a:blip r:embed="rId2"/>
          <a:stretch>
            <a:fillRect/>
          </a:stretch>
        </p:blipFill>
        <p:spPr>
          <a:xfrm>
            <a:off x="438150" y="1459056"/>
            <a:ext cx="342900" cy="304800"/>
          </a:xfrm>
          <a:prstGeom prst="rect">
            <a:avLst/>
          </a:prstGeom>
        </p:spPr>
      </p:pic>
      <p:pic>
        <p:nvPicPr>
          <p:cNvPr id="9" name="Picture 8" descr="image.png">
            <a:extLst>
              <a:ext uri="{FF2B5EF4-FFF2-40B4-BE49-F238E27FC236}">
                <a16:creationId xmlns:a16="http://schemas.microsoft.com/office/drawing/2014/main" id="{E1400D9F-9FC3-AD84-8031-9D990C5D0D11}"/>
              </a:ext>
            </a:extLst>
          </p:cNvPr>
          <p:cNvPicPr>
            <a:picLocks noChangeAspect="1"/>
          </p:cNvPicPr>
          <p:nvPr/>
        </p:nvPicPr>
        <p:blipFill>
          <a:blip r:embed="rId3"/>
          <a:stretch>
            <a:fillRect/>
          </a:stretch>
        </p:blipFill>
        <p:spPr>
          <a:xfrm>
            <a:off x="3956750" y="1435893"/>
            <a:ext cx="342900" cy="304800"/>
          </a:xfrm>
          <a:prstGeom prst="rect">
            <a:avLst/>
          </a:prstGeom>
        </p:spPr>
      </p:pic>
      <p:sp>
        <p:nvSpPr>
          <p:cNvPr id="11" name="TextBox 10">
            <a:extLst>
              <a:ext uri="{FF2B5EF4-FFF2-40B4-BE49-F238E27FC236}">
                <a16:creationId xmlns:a16="http://schemas.microsoft.com/office/drawing/2014/main" id="{945D7945-E1DE-5249-FC05-F522466B8920}"/>
              </a:ext>
            </a:extLst>
          </p:cNvPr>
          <p:cNvSpPr txBox="1"/>
          <p:nvPr/>
        </p:nvSpPr>
        <p:spPr>
          <a:xfrm>
            <a:off x="609600" y="228600"/>
            <a:ext cx="6245299" cy="461665"/>
          </a:xfrm>
          <a:prstGeom prst="rect">
            <a:avLst/>
          </a:prstGeom>
          <a:noFill/>
        </p:spPr>
        <p:txBody>
          <a:bodyPr wrap="none" lIns="0" tIns="0" rIns="0" bIns="0" anchor="t">
            <a:spAutoFit/>
          </a:bodyPr>
          <a:lstStyle/>
          <a:p>
            <a:pPr algn="l"/>
            <a:r>
              <a:rPr sz="3000" b="1" i="0">
                <a:solidFill>
                  <a:srgbClr val="FFFFFF"/>
                </a:solidFill>
                <a:latin typeface="Georgia"/>
              </a:rPr>
              <a:t>Habit, Habitat &amp; Distribution</a:t>
            </a:r>
            <a:endParaRPr sz="3000">
              <a:solidFill>
                <a:srgbClr val="FFFFFF"/>
              </a:solidFill>
            </a:endParaRPr>
          </a:p>
        </p:txBody>
      </p:sp>
      <p:sp>
        <p:nvSpPr>
          <p:cNvPr id="12" name="TextBox 11">
            <a:extLst>
              <a:ext uri="{FF2B5EF4-FFF2-40B4-BE49-F238E27FC236}">
                <a16:creationId xmlns:a16="http://schemas.microsoft.com/office/drawing/2014/main" id="{C69981FD-3A45-62DF-FE7C-469388D4398A}"/>
              </a:ext>
            </a:extLst>
          </p:cNvPr>
          <p:cNvSpPr txBox="1"/>
          <p:nvPr/>
        </p:nvSpPr>
        <p:spPr>
          <a:xfrm>
            <a:off x="609600" y="6496050"/>
            <a:ext cx="5262562" cy="209550"/>
          </a:xfrm>
          <a:prstGeom prst="rect">
            <a:avLst/>
          </a:prstGeom>
          <a:noFill/>
        </p:spPr>
        <p:txBody>
          <a:bodyPr wrap="none" lIns="0" tIns="0" rIns="0" bIns="0" anchor="t">
            <a:spAutoFit/>
          </a:bodyPr>
          <a:lstStyle/>
          <a:p>
            <a:pPr algn="l"/>
            <a:r>
              <a:rPr sz="1200" b="0" i="0">
                <a:solidFill>
                  <a:srgbClr val="737373"/>
                </a:solidFill>
                <a:latin typeface="Calibri"/>
              </a:rPr>
              <a:t>Dept. of Zoology, University of Dhaka</a:t>
            </a:r>
            <a:endParaRPr sz="1200">
              <a:solidFill>
                <a:srgbClr val="737373"/>
              </a:solidFill>
            </a:endParaRPr>
          </a:p>
        </p:txBody>
      </p:sp>
      <p:sp>
        <p:nvSpPr>
          <p:cNvPr id="13" name="TextBox 12">
            <a:extLst>
              <a:ext uri="{FF2B5EF4-FFF2-40B4-BE49-F238E27FC236}">
                <a16:creationId xmlns:a16="http://schemas.microsoft.com/office/drawing/2014/main" id="{9CFDCFE9-3065-11D6-CBB0-31B4F46C2220}"/>
              </a:ext>
            </a:extLst>
          </p:cNvPr>
          <p:cNvSpPr txBox="1"/>
          <p:nvPr/>
        </p:nvSpPr>
        <p:spPr>
          <a:xfrm>
            <a:off x="11884603" y="6520934"/>
            <a:ext cx="78548" cy="184666"/>
          </a:xfrm>
          <a:prstGeom prst="rect">
            <a:avLst/>
          </a:prstGeom>
          <a:noFill/>
        </p:spPr>
        <p:txBody>
          <a:bodyPr wrap="none" lIns="0" tIns="0" rIns="0" bIns="0" anchor="t">
            <a:spAutoFit/>
          </a:bodyPr>
          <a:lstStyle/>
          <a:p>
            <a:pPr algn="l"/>
            <a:r>
              <a:rPr sz="1200" b="0" i="0">
                <a:solidFill>
                  <a:srgbClr val="737373"/>
                </a:solidFill>
                <a:latin typeface="Calibri"/>
              </a:rPr>
              <a:t>3</a:t>
            </a:r>
            <a:endParaRPr sz="1200">
              <a:solidFill>
                <a:srgbClr val="737373"/>
              </a:solidFill>
            </a:endParaRPr>
          </a:p>
        </p:txBody>
      </p:sp>
      <p:sp>
        <p:nvSpPr>
          <p:cNvPr id="14" name="TextBox 13">
            <a:extLst>
              <a:ext uri="{FF2B5EF4-FFF2-40B4-BE49-F238E27FC236}">
                <a16:creationId xmlns:a16="http://schemas.microsoft.com/office/drawing/2014/main" id="{20A89FBC-1588-DD0C-D998-811CFFF027E8}"/>
              </a:ext>
            </a:extLst>
          </p:cNvPr>
          <p:cNvSpPr txBox="1"/>
          <p:nvPr/>
        </p:nvSpPr>
        <p:spPr>
          <a:xfrm>
            <a:off x="914400" y="1459056"/>
            <a:ext cx="3213800" cy="342900"/>
          </a:xfrm>
          <a:prstGeom prst="rect">
            <a:avLst/>
          </a:prstGeom>
          <a:noFill/>
        </p:spPr>
        <p:txBody>
          <a:bodyPr wrap="none" lIns="0" tIns="0" rIns="0" bIns="0" anchor="ctr">
            <a:spAutoFit/>
          </a:bodyPr>
          <a:lstStyle/>
          <a:p>
            <a:pPr algn="l"/>
            <a:r>
              <a:rPr sz="2400" b="1" i="0" u="none" dirty="0">
                <a:solidFill>
                  <a:srgbClr val="D97706"/>
                </a:solidFill>
                <a:latin typeface="Georgia"/>
              </a:rPr>
              <a:t>Habit</a:t>
            </a:r>
          </a:p>
        </p:txBody>
      </p:sp>
      <p:sp>
        <p:nvSpPr>
          <p:cNvPr id="15" name="TextBox 14">
            <a:extLst>
              <a:ext uri="{FF2B5EF4-FFF2-40B4-BE49-F238E27FC236}">
                <a16:creationId xmlns:a16="http://schemas.microsoft.com/office/drawing/2014/main" id="{445C91A1-A6BE-729F-B579-17BA1BD3AD07}"/>
              </a:ext>
            </a:extLst>
          </p:cNvPr>
          <p:cNvSpPr txBox="1"/>
          <p:nvPr/>
        </p:nvSpPr>
        <p:spPr>
          <a:xfrm>
            <a:off x="609600" y="2238374"/>
            <a:ext cx="2940099" cy="1415772"/>
          </a:xfrm>
          <a:prstGeom prst="rect">
            <a:avLst/>
          </a:prstGeom>
          <a:noFill/>
        </p:spPr>
        <p:txBody>
          <a:bodyPr wrap="square" lIns="0" tIns="0" rIns="0" bIns="0" anchor="t">
            <a:spAutoFit/>
          </a:bodyPr>
          <a:lstStyle/>
          <a:p>
            <a:pPr algn="l"/>
            <a:r>
              <a:rPr sz="1800" b="0" i="0">
                <a:solidFill>
                  <a:srgbClr val="27272A"/>
                </a:solidFill>
                <a:latin typeface="Calibri"/>
              </a:rPr>
              <a:t>A colonial octocoral with a flattened, kidney-shaped colony that lies on the sandy sea floor and is anchored by a muscular peduncle buried in the sediment.</a:t>
            </a:r>
            <a:endParaRPr sz="1800">
              <a:solidFill>
                <a:srgbClr val="27272A"/>
              </a:solidFill>
            </a:endParaRPr>
          </a:p>
        </p:txBody>
      </p:sp>
      <p:sp>
        <p:nvSpPr>
          <p:cNvPr id="16" name="TextBox 15">
            <a:extLst>
              <a:ext uri="{FF2B5EF4-FFF2-40B4-BE49-F238E27FC236}">
                <a16:creationId xmlns:a16="http://schemas.microsoft.com/office/drawing/2014/main" id="{6665C89C-7D0B-1A45-DB7D-2440746B05D8}"/>
              </a:ext>
            </a:extLst>
          </p:cNvPr>
          <p:cNvSpPr txBox="1"/>
          <p:nvPr/>
        </p:nvSpPr>
        <p:spPr>
          <a:xfrm>
            <a:off x="4673649" y="1435893"/>
            <a:ext cx="3213800" cy="342900"/>
          </a:xfrm>
          <a:prstGeom prst="rect">
            <a:avLst/>
          </a:prstGeom>
          <a:noFill/>
        </p:spPr>
        <p:txBody>
          <a:bodyPr wrap="none" lIns="0" tIns="0" rIns="0" bIns="0" anchor="ctr">
            <a:spAutoFit/>
          </a:bodyPr>
          <a:lstStyle/>
          <a:p>
            <a:pPr algn="l"/>
            <a:r>
              <a:rPr sz="2400" b="1" i="0" u="none" dirty="0">
                <a:solidFill>
                  <a:srgbClr val="D97706"/>
                </a:solidFill>
                <a:latin typeface="Georgia"/>
              </a:rPr>
              <a:t>Habitat</a:t>
            </a:r>
          </a:p>
        </p:txBody>
      </p:sp>
      <p:sp>
        <p:nvSpPr>
          <p:cNvPr id="17" name="TextBox 16">
            <a:extLst>
              <a:ext uri="{FF2B5EF4-FFF2-40B4-BE49-F238E27FC236}">
                <a16:creationId xmlns:a16="http://schemas.microsoft.com/office/drawing/2014/main" id="{492798E9-F4F3-6233-5BBC-ABBB8D86A9CF}"/>
              </a:ext>
            </a:extLst>
          </p:cNvPr>
          <p:cNvSpPr txBox="1"/>
          <p:nvPr/>
        </p:nvSpPr>
        <p:spPr>
          <a:xfrm>
            <a:off x="4368775" y="2238374"/>
            <a:ext cx="3071116" cy="1692771"/>
          </a:xfrm>
          <a:prstGeom prst="rect">
            <a:avLst/>
          </a:prstGeom>
          <a:noFill/>
        </p:spPr>
        <p:txBody>
          <a:bodyPr wrap="square" lIns="0" tIns="0" rIns="0" bIns="0" anchor="t">
            <a:spAutoFit/>
          </a:bodyPr>
          <a:lstStyle/>
          <a:p>
            <a:pPr algn="l"/>
            <a:r>
              <a:rPr sz="1800" b="0" i="0">
                <a:solidFill>
                  <a:srgbClr val="27272A"/>
                </a:solidFill>
                <a:latin typeface="Calibri"/>
              </a:rPr>
              <a:t>It is a marine species found mainly on sandy and muddy seabeds in shallow coastal waters of the western Atlantic.</a:t>
            </a:r>
            <a:endParaRPr sz="1800">
              <a:solidFill>
                <a:srgbClr val="27272A"/>
              </a:solidFill>
            </a:endParaRPr>
          </a:p>
        </p:txBody>
      </p:sp>
      <p:sp>
        <p:nvSpPr>
          <p:cNvPr id="18" name="TextBox 17">
            <a:extLst>
              <a:ext uri="{FF2B5EF4-FFF2-40B4-BE49-F238E27FC236}">
                <a16:creationId xmlns:a16="http://schemas.microsoft.com/office/drawing/2014/main" id="{C9774B3F-5CFD-54B2-C7DF-21541DC1C55E}"/>
              </a:ext>
            </a:extLst>
          </p:cNvPr>
          <p:cNvSpPr txBox="1"/>
          <p:nvPr/>
        </p:nvSpPr>
        <p:spPr>
          <a:xfrm>
            <a:off x="8890099" y="1397349"/>
            <a:ext cx="2607044" cy="369332"/>
          </a:xfrm>
          <a:prstGeom prst="rect">
            <a:avLst/>
          </a:prstGeom>
          <a:noFill/>
        </p:spPr>
        <p:txBody>
          <a:bodyPr wrap="square" lIns="0" tIns="0" rIns="0" bIns="0" anchor="ctr">
            <a:spAutoFit/>
          </a:bodyPr>
          <a:lstStyle/>
          <a:p>
            <a:pPr algn="l"/>
            <a:r>
              <a:rPr lang="en-US" sz="2400" b="1" dirty="0">
                <a:solidFill>
                  <a:srgbClr val="D97706"/>
                </a:solidFill>
                <a:latin typeface="Georgia"/>
              </a:rPr>
              <a:t>Distribution</a:t>
            </a:r>
            <a:endParaRPr sz="2400" b="1" i="0" u="none" dirty="0">
              <a:solidFill>
                <a:srgbClr val="D97706"/>
              </a:solidFill>
              <a:latin typeface="Georgia"/>
            </a:endParaRPr>
          </a:p>
        </p:txBody>
      </p:sp>
      <p:sp>
        <p:nvSpPr>
          <p:cNvPr id="19" name="TextBox 18">
            <a:extLst>
              <a:ext uri="{FF2B5EF4-FFF2-40B4-BE49-F238E27FC236}">
                <a16:creationId xmlns:a16="http://schemas.microsoft.com/office/drawing/2014/main" id="{3C63163E-4A8A-DFF3-A108-2ECD33745741}"/>
              </a:ext>
            </a:extLst>
          </p:cNvPr>
          <p:cNvSpPr txBox="1"/>
          <p:nvPr/>
        </p:nvSpPr>
        <p:spPr>
          <a:xfrm>
            <a:off x="8723571" y="2211720"/>
            <a:ext cx="2940099" cy="1969770"/>
          </a:xfrm>
          <a:prstGeom prst="rect">
            <a:avLst/>
          </a:prstGeom>
          <a:noFill/>
        </p:spPr>
        <p:txBody>
          <a:bodyPr wrap="square" lIns="0" tIns="0" rIns="0" bIns="0" anchor="t">
            <a:spAutoFit/>
          </a:bodyPr>
          <a:lstStyle/>
          <a:p>
            <a:pPr algn="l"/>
            <a:r>
              <a:rPr sz="1800" b="0" i="0">
                <a:solidFill>
                  <a:srgbClr val="27272A"/>
                </a:solidFill>
                <a:latin typeface="Calibri"/>
              </a:rPr>
              <a:t>Western Atlantic, from the coast of the southeastern United States through the Gulf of Mexico and the Caribbean to South America.</a:t>
            </a:r>
            <a:endParaRPr sz="1800">
              <a:solidFill>
                <a:srgbClr val="27272A"/>
              </a:solidFill>
            </a:endParaRPr>
          </a:p>
        </p:txBody>
      </p:sp>
      <p:pic>
        <p:nvPicPr>
          <p:cNvPr id="21" name="Picture 20" descr="image.png">
            <a:extLst>
              <a:ext uri="{FF2B5EF4-FFF2-40B4-BE49-F238E27FC236}">
                <a16:creationId xmlns:a16="http://schemas.microsoft.com/office/drawing/2014/main" id="{598F5CEE-0A26-3582-6E7A-7B9A1DAF94D5}"/>
              </a:ext>
            </a:extLst>
          </p:cNvPr>
          <p:cNvPicPr>
            <a:picLocks noChangeAspect="1"/>
          </p:cNvPicPr>
          <p:nvPr/>
        </p:nvPicPr>
        <p:blipFill>
          <a:blip r:embed="rId4"/>
          <a:stretch>
            <a:fillRect/>
          </a:stretch>
        </p:blipFill>
        <p:spPr>
          <a:xfrm>
            <a:off x="8280498" y="1454943"/>
            <a:ext cx="304800" cy="304800"/>
          </a:xfrm>
          <a:prstGeom prst="rect">
            <a:avLst/>
          </a:prstGeom>
        </p:spPr>
      </p:pic>
    </p:spTree>
    <p:extLst>
      <p:ext uri="{BB962C8B-B14F-4D97-AF65-F5344CB8AC3E}">
        <p14:creationId xmlns:p14="http://schemas.microsoft.com/office/powerpoint/2010/main" val="244937692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a:extLst>
            <a:ext uri="{FF2B5EF4-FFF2-40B4-BE49-F238E27FC236}">
              <a16:creationId xmlns:a16="http://schemas.microsoft.com/office/drawing/2014/main" id="{7DD34DFA-2BBA-634E-1F79-D4CB3BFCD49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AB7964A-8AE7-6CB7-8084-BDF7251F4D95}"/>
              </a:ext>
            </a:extLst>
          </p:cNvPr>
          <p:cNvSpPr/>
          <p:nvPr/>
        </p:nvSpPr>
        <p:spPr>
          <a:xfrm>
            <a:off x="0" y="0"/>
            <a:ext cx="12192000" cy="8953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339AAF37-7B5C-83ED-001F-8FCD8D6B222A}"/>
              </a:ext>
            </a:extLst>
          </p:cNvPr>
          <p:cNvSpPr/>
          <p:nvPr/>
        </p:nvSpPr>
        <p:spPr>
          <a:xfrm>
            <a:off x="0" y="5026603"/>
            <a:ext cx="12192000" cy="1078921"/>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A5F26F41-13C0-8E9C-044F-E11843D46E6B}"/>
              </a:ext>
            </a:extLst>
          </p:cNvPr>
          <p:cNvSpPr/>
          <p:nvPr/>
        </p:nvSpPr>
        <p:spPr>
          <a:xfrm>
            <a:off x="0" y="6334125"/>
            <a:ext cx="12192000" cy="523875"/>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565AA3B7-6E53-B780-B5DE-968664186E88}"/>
              </a:ext>
            </a:extLst>
          </p:cNvPr>
          <p:cNvSpPr/>
          <p:nvPr/>
        </p:nvSpPr>
        <p:spPr>
          <a:xfrm>
            <a:off x="0" y="6334125"/>
            <a:ext cx="12192000" cy="952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a:extLst>
              <a:ext uri="{FF2B5EF4-FFF2-40B4-BE49-F238E27FC236}">
                <a16:creationId xmlns:a16="http://schemas.microsoft.com/office/drawing/2014/main" id="{DBBDDB01-7912-5322-AB42-350EE4A137DD}"/>
              </a:ext>
            </a:extLst>
          </p:cNvPr>
          <p:cNvPicPr>
            <a:picLocks noChangeAspect="1"/>
          </p:cNvPicPr>
          <p:nvPr/>
        </p:nvPicPr>
        <p:blipFill>
          <a:blip r:embed="rId2"/>
          <a:stretch>
            <a:fillRect/>
          </a:stretch>
        </p:blipFill>
        <p:spPr>
          <a:xfrm>
            <a:off x="4494996" y="1398628"/>
            <a:ext cx="304800" cy="304800"/>
          </a:xfrm>
          <a:prstGeom prst="rect">
            <a:avLst/>
          </a:prstGeom>
        </p:spPr>
      </p:pic>
      <p:pic>
        <p:nvPicPr>
          <p:cNvPr id="12" name="Picture 11" descr="image.png">
            <a:extLst>
              <a:ext uri="{FF2B5EF4-FFF2-40B4-BE49-F238E27FC236}">
                <a16:creationId xmlns:a16="http://schemas.microsoft.com/office/drawing/2014/main" id="{2E5F6A5B-AFE8-761A-1DC8-7FE59C91D5C8}"/>
              </a:ext>
            </a:extLst>
          </p:cNvPr>
          <p:cNvPicPr>
            <a:picLocks noChangeAspect="1"/>
          </p:cNvPicPr>
          <p:nvPr/>
        </p:nvPicPr>
        <p:blipFill>
          <a:blip r:embed="rId3"/>
          <a:stretch>
            <a:fillRect/>
          </a:stretch>
        </p:blipFill>
        <p:spPr>
          <a:xfrm>
            <a:off x="8445698" y="1520970"/>
            <a:ext cx="304800" cy="304800"/>
          </a:xfrm>
          <a:prstGeom prst="rect">
            <a:avLst/>
          </a:prstGeom>
        </p:spPr>
      </p:pic>
      <p:sp>
        <p:nvSpPr>
          <p:cNvPr id="13" name="TextBox 12">
            <a:extLst>
              <a:ext uri="{FF2B5EF4-FFF2-40B4-BE49-F238E27FC236}">
                <a16:creationId xmlns:a16="http://schemas.microsoft.com/office/drawing/2014/main" id="{F69C168A-8603-FE57-6517-F22CC36AF0F0}"/>
              </a:ext>
            </a:extLst>
          </p:cNvPr>
          <p:cNvSpPr txBox="1"/>
          <p:nvPr/>
        </p:nvSpPr>
        <p:spPr>
          <a:xfrm>
            <a:off x="609600" y="228600"/>
            <a:ext cx="11460221" cy="438150"/>
          </a:xfrm>
          <a:prstGeom prst="rect">
            <a:avLst/>
          </a:prstGeom>
          <a:noFill/>
        </p:spPr>
        <p:txBody>
          <a:bodyPr wrap="none" lIns="0" tIns="0" rIns="0" bIns="0" anchor="t">
            <a:spAutoFit/>
          </a:bodyPr>
          <a:lstStyle/>
          <a:p>
            <a:pPr algn="l"/>
            <a:r>
              <a:rPr sz="3000" b="1" i="0">
                <a:solidFill>
                  <a:srgbClr val="FFFFFF"/>
                </a:solidFill>
                <a:latin typeface="Georgia"/>
              </a:rPr>
              <a:t>Food &amp; Feeding, Status &amp; Economic Importance</a:t>
            </a:r>
            <a:endParaRPr sz="3000">
              <a:solidFill>
                <a:srgbClr val="FFFFFF"/>
              </a:solidFill>
            </a:endParaRPr>
          </a:p>
        </p:txBody>
      </p:sp>
      <p:sp>
        <p:nvSpPr>
          <p:cNvPr id="14" name="TextBox 13">
            <a:extLst>
              <a:ext uri="{FF2B5EF4-FFF2-40B4-BE49-F238E27FC236}">
                <a16:creationId xmlns:a16="http://schemas.microsoft.com/office/drawing/2014/main" id="{0F01FD79-0AE3-1D93-64E2-8C62A55C8D79}"/>
              </a:ext>
            </a:extLst>
          </p:cNvPr>
          <p:cNvSpPr txBox="1"/>
          <p:nvPr/>
        </p:nvSpPr>
        <p:spPr>
          <a:xfrm>
            <a:off x="246289" y="5285326"/>
            <a:ext cx="11307439" cy="553998"/>
          </a:xfrm>
          <a:prstGeom prst="rect">
            <a:avLst/>
          </a:prstGeom>
          <a:noFill/>
        </p:spPr>
        <p:txBody>
          <a:bodyPr wrap="square" lIns="0" tIns="0" rIns="0" bIns="0" anchor="t">
            <a:spAutoFit/>
          </a:bodyPr>
          <a:lstStyle/>
          <a:p>
            <a:pPr algn="l"/>
            <a:r>
              <a:rPr sz="1650" b="1">
                <a:solidFill>
                  <a:srgbClr val="111827"/>
                </a:solidFill>
                <a:latin typeface="Calibri"/>
              </a:rPr>
              <a:t>Special Information: </a:t>
            </a:r>
            <a:r>
              <a:rPr sz="1650" b="0">
                <a:solidFill>
                  <a:srgbClr val="27272A"/>
                </a:solidFill>
                <a:latin typeface="Calibri"/>
              </a:rPr>
              <a:t>It often looks contracted by day and more expanded at night. It is also well known in research for its green fluorescent protein (GFP). It has no photosymbionts, and its life cycle begins as a single primary polyp.</a:t>
            </a:r>
            <a:endParaRPr sz="1650"/>
          </a:p>
        </p:txBody>
      </p:sp>
      <p:sp>
        <p:nvSpPr>
          <p:cNvPr id="15" name="TextBox 14">
            <a:extLst>
              <a:ext uri="{FF2B5EF4-FFF2-40B4-BE49-F238E27FC236}">
                <a16:creationId xmlns:a16="http://schemas.microsoft.com/office/drawing/2014/main" id="{3DD5F510-0390-DB85-73C0-78581621C8F2}"/>
              </a:ext>
            </a:extLst>
          </p:cNvPr>
          <p:cNvSpPr txBox="1"/>
          <p:nvPr/>
        </p:nvSpPr>
        <p:spPr>
          <a:xfrm>
            <a:off x="609600" y="6496050"/>
            <a:ext cx="5262562" cy="209550"/>
          </a:xfrm>
          <a:prstGeom prst="rect">
            <a:avLst/>
          </a:prstGeom>
          <a:noFill/>
        </p:spPr>
        <p:txBody>
          <a:bodyPr wrap="none" lIns="0" tIns="0" rIns="0" bIns="0" anchor="t">
            <a:spAutoFit/>
          </a:bodyPr>
          <a:lstStyle/>
          <a:p>
            <a:pPr algn="l"/>
            <a:r>
              <a:rPr sz="1200" b="0" i="0">
                <a:solidFill>
                  <a:srgbClr val="737373"/>
                </a:solidFill>
                <a:latin typeface="Calibri"/>
              </a:rPr>
              <a:t>Dept. of Zoology, University of Dhaka</a:t>
            </a:r>
            <a:endParaRPr sz="1200">
              <a:solidFill>
                <a:srgbClr val="737373"/>
              </a:solidFill>
            </a:endParaRPr>
          </a:p>
        </p:txBody>
      </p:sp>
      <p:sp>
        <p:nvSpPr>
          <p:cNvPr id="16" name="TextBox 15">
            <a:extLst>
              <a:ext uri="{FF2B5EF4-FFF2-40B4-BE49-F238E27FC236}">
                <a16:creationId xmlns:a16="http://schemas.microsoft.com/office/drawing/2014/main" id="{98E3ECC8-C80C-68A3-BB81-7F2F290580F4}"/>
              </a:ext>
            </a:extLst>
          </p:cNvPr>
          <p:cNvSpPr txBox="1"/>
          <p:nvPr/>
        </p:nvSpPr>
        <p:spPr>
          <a:xfrm>
            <a:off x="11811866" y="6444734"/>
            <a:ext cx="78548" cy="184666"/>
          </a:xfrm>
          <a:prstGeom prst="rect">
            <a:avLst/>
          </a:prstGeom>
          <a:noFill/>
        </p:spPr>
        <p:txBody>
          <a:bodyPr wrap="none" lIns="0" tIns="0" rIns="0" bIns="0" anchor="t">
            <a:spAutoFit/>
          </a:bodyPr>
          <a:lstStyle/>
          <a:p>
            <a:pPr algn="l"/>
            <a:r>
              <a:rPr sz="1200" b="0" i="0">
                <a:solidFill>
                  <a:srgbClr val="737373"/>
                </a:solidFill>
                <a:latin typeface="Calibri"/>
              </a:rPr>
              <a:t>4</a:t>
            </a:r>
            <a:endParaRPr sz="1200">
              <a:solidFill>
                <a:srgbClr val="737373"/>
              </a:solidFill>
            </a:endParaRPr>
          </a:p>
        </p:txBody>
      </p:sp>
      <p:sp>
        <p:nvSpPr>
          <p:cNvPr id="17" name="TextBox 16">
            <a:extLst>
              <a:ext uri="{FF2B5EF4-FFF2-40B4-BE49-F238E27FC236}">
                <a16:creationId xmlns:a16="http://schemas.microsoft.com/office/drawing/2014/main" id="{6AAA36A3-6A20-49F0-A29F-C181313C1648}"/>
              </a:ext>
            </a:extLst>
          </p:cNvPr>
          <p:cNvSpPr txBox="1"/>
          <p:nvPr/>
        </p:nvSpPr>
        <p:spPr>
          <a:xfrm>
            <a:off x="4941287" y="1374108"/>
            <a:ext cx="3253805" cy="342900"/>
          </a:xfrm>
          <a:prstGeom prst="rect">
            <a:avLst/>
          </a:prstGeom>
          <a:noFill/>
        </p:spPr>
        <p:txBody>
          <a:bodyPr wrap="none" lIns="0" tIns="0" rIns="0" bIns="0" anchor="ctr">
            <a:spAutoFit/>
          </a:bodyPr>
          <a:lstStyle/>
          <a:p>
            <a:pPr algn="l"/>
            <a:r>
              <a:rPr sz="2400" b="1" i="0" u="none" dirty="0">
                <a:solidFill>
                  <a:srgbClr val="D97706"/>
                </a:solidFill>
                <a:latin typeface="Georgia"/>
              </a:rPr>
              <a:t>Status</a:t>
            </a:r>
          </a:p>
        </p:txBody>
      </p:sp>
      <p:sp>
        <p:nvSpPr>
          <p:cNvPr id="18" name="TextBox 17">
            <a:extLst>
              <a:ext uri="{FF2B5EF4-FFF2-40B4-BE49-F238E27FC236}">
                <a16:creationId xmlns:a16="http://schemas.microsoft.com/office/drawing/2014/main" id="{1B853695-6272-1220-4AC8-E8C16918B04C}"/>
              </a:ext>
            </a:extLst>
          </p:cNvPr>
          <p:cNvSpPr txBox="1"/>
          <p:nvPr/>
        </p:nvSpPr>
        <p:spPr>
          <a:xfrm>
            <a:off x="4661139" y="1986810"/>
            <a:ext cx="2940099" cy="1107996"/>
          </a:xfrm>
          <a:prstGeom prst="rect">
            <a:avLst/>
          </a:prstGeom>
          <a:noFill/>
        </p:spPr>
        <p:txBody>
          <a:bodyPr wrap="square" lIns="0" tIns="0" rIns="0" bIns="0" anchor="t">
            <a:spAutoFit/>
          </a:bodyPr>
          <a:lstStyle/>
          <a:p>
            <a:pPr algn="l"/>
            <a:r>
              <a:rPr sz="1800" b="0" i="0">
                <a:solidFill>
                  <a:srgbClr val="27272A"/>
                </a:solidFill>
                <a:latin typeface="Calibri"/>
              </a:rPr>
              <a:t>Not evaluated on the IUCN Red List.</a:t>
            </a:r>
            <a:endParaRPr sz="1800">
              <a:solidFill>
                <a:srgbClr val="27272A"/>
              </a:solidFill>
            </a:endParaRPr>
          </a:p>
        </p:txBody>
      </p:sp>
      <p:sp>
        <p:nvSpPr>
          <p:cNvPr id="21" name="TextBox 20">
            <a:extLst>
              <a:ext uri="{FF2B5EF4-FFF2-40B4-BE49-F238E27FC236}">
                <a16:creationId xmlns:a16="http://schemas.microsoft.com/office/drawing/2014/main" id="{D918BB7A-076B-825D-6CD2-689773F64185}"/>
              </a:ext>
            </a:extLst>
          </p:cNvPr>
          <p:cNvSpPr txBox="1"/>
          <p:nvPr/>
        </p:nvSpPr>
        <p:spPr>
          <a:xfrm>
            <a:off x="8975355" y="1202610"/>
            <a:ext cx="2607044" cy="685800"/>
          </a:xfrm>
          <a:prstGeom prst="rect">
            <a:avLst/>
          </a:prstGeom>
          <a:noFill/>
        </p:spPr>
        <p:txBody>
          <a:bodyPr wrap="square" lIns="0" tIns="0" rIns="0" bIns="0" anchor="ctr">
            <a:spAutoFit/>
          </a:bodyPr>
          <a:lstStyle/>
          <a:p>
            <a:pPr algn="l"/>
            <a:r>
              <a:rPr sz="2400" b="1" i="0" u="none" dirty="0">
                <a:solidFill>
                  <a:srgbClr val="D97706"/>
                </a:solidFill>
                <a:latin typeface="Georgia"/>
              </a:rPr>
              <a:t>Economic Value</a:t>
            </a:r>
          </a:p>
        </p:txBody>
      </p:sp>
      <p:graphicFrame>
        <p:nvGraphicFramePr>
          <p:cNvPr id="24" name="Table 23">
            <a:extLst>
              <a:ext uri="{FF2B5EF4-FFF2-40B4-BE49-F238E27FC236}">
                <a16:creationId xmlns:a16="http://schemas.microsoft.com/office/drawing/2014/main" id="{D3612A7E-25D9-F103-7826-0ABA352C6CB1}"/>
              </a:ext>
            </a:extLst>
          </p:cNvPr>
          <p:cNvGraphicFramePr>
            <a:graphicFrameLocks noGrp="1"/>
          </p:cNvGraphicFramePr>
          <p:nvPr/>
        </p:nvGraphicFramePr>
        <p:xfrm>
          <a:off x="8823870" y="3246437"/>
          <a:ext cx="2758529" cy="1739900"/>
        </p:xfrm>
        <a:graphic>
          <a:graphicData uri="http://schemas.openxmlformats.org/drawingml/2006/table">
            <a:tbl>
              <a:tblPr/>
              <a:tblGrid>
                <a:gridCol w="965437">
                  <a:extLst>
                    <a:ext uri="{9D8B030D-6E8A-4147-A177-3AD203B41FA5}">
                      <a16:colId xmlns:a16="http://schemas.microsoft.com/office/drawing/2014/main" val="20000"/>
                    </a:ext>
                  </a:extLst>
                </a:gridCol>
                <a:gridCol w="1793092">
                  <a:extLst>
                    <a:ext uri="{9D8B030D-6E8A-4147-A177-3AD203B41FA5}">
                      <a16:colId xmlns:a16="http://schemas.microsoft.com/office/drawing/2014/main" val="20001"/>
                    </a:ext>
                  </a:extLst>
                </a:gridCol>
              </a:tblGrid>
              <a:tr h="248602">
                <a:tc>
                  <a:txBody>
                    <a:bodyPr/>
                    <a:lstStyle/>
                    <a:p>
                      <a:pPr algn="l"/>
                      <a:endParaRPr sz="1950" b="1" i="0" u="none" dirty="0">
                        <a:solidFill>
                          <a:srgbClr val="0F766E"/>
                        </a:solidFill>
                        <a:latin typeface="Georgia"/>
                      </a:endParaRPr>
                    </a:p>
                  </a:txBody>
                  <a:tcPr marL="63500" marR="63500" marT="25400" marB="25400" anchor="ctr">
                    <a:lnL>
                      <a:noFill/>
                    </a:lnL>
                    <a:lnR>
                      <a:noFill/>
                    </a:lnR>
                    <a:lnT>
                      <a:noFill/>
                    </a:lnT>
                    <a:lnB>
                      <a:noFill/>
                    </a:lnB>
                    <a:solidFill>
                      <a:srgbClr val="FAFAF9"/>
                    </a:solidFill>
                  </a:tcPr>
                </a:tc>
                <a:tc>
                  <a:txBody>
                    <a:bodyPr/>
                    <a:lstStyle/>
                    <a:p>
                      <a:pPr algn="l"/>
                      <a:endParaRPr sz="1950" b="0" i="0" u="none" dirty="0">
                        <a:solidFill>
                          <a:srgbClr val="27272A"/>
                        </a:solidFill>
                        <a:latin typeface="Calibri"/>
                      </a:endParaRPr>
                    </a:p>
                  </a:txBody>
                  <a:tcPr marL="63500" marR="63500" marT="25400" marB="25400" anchor="ctr">
                    <a:lnL>
                      <a:noFill/>
                    </a:lnL>
                    <a:lnR>
                      <a:noFill/>
                    </a:lnR>
                    <a:lnT>
                      <a:noFill/>
                    </a:lnT>
                    <a:lnB>
                      <a:noFill/>
                    </a:lnB>
                    <a:solidFill>
                      <a:srgbClr val="FAFAF9"/>
                    </a:solidFill>
                  </a:tcPr>
                </a:tc>
                <a:extLst>
                  <a:ext uri="{0D108BD9-81ED-4DB2-BD59-A6C34878D82A}">
                    <a16:rowId xmlns:a16="http://schemas.microsoft.com/office/drawing/2014/main" val="10001"/>
                  </a:ext>
                </a:extLst>
              </a:tr>
              <a:tr h="248602">
                <a:tc>
                  <a:txBody>
                    <a:bodyPr/>
                    <a:lstStyle/>
                    <a:p>
                      <a:pPr algn="l"/>
                      <a:endParaRPr sz="1950" b="1" i="0" u="none">
                        <a:solidFill>
                          <a:srgbClr val="0F766E"/>
                        </a:solidFill>
                        <a:latin typeface="Georgia"/>
                      </a:endParaRPr>
                    </a:p>
                  </a:txBody>
                  <a:tcPr marL="63500" marR="63500" marT="25400" marB="25400" anchor="ctr">
                    <a:lnL>
                      <a:noFill/>
                    </a:lnL>
                    <a:lnR>
                      <a:noFill/>
                    </a:lnR>
                    <a:lnT>
                      <a:noFill/>
                    </a:lnT>
                    <a:lnB>
                      <a:noFill/>
                    </a:lnB>
                    <a:solidFill>
                      <a:srgbClr val="FAFAF9"/>
                    </a:solidFill>
                  </a:tcPr>
                </a:tc>
                <a:tc>
                  <a:txBody>
                    <a:bodyPr/>
                    <a:lstStyle/>
                    <a:p>
                      <a:pPr algn="l"/>
                      <a:endParaRPr sz="1950" b="0" i="0" u="none">
                        <a:solidFill>
                          <a:srgbClr val="27272A"/>
                        </a:solidFill>
                        <a:latin typeface="Calibri"/>
                      </a:endParaRPr>
                    </a:p>
                  </a:txBody>
                  <a:tcPr marL="63500" marR="63500" marT="25400" marB="25400" anchor="ctr">
                    <a:lnL>
                      <a:noFill/>
                    </a:lnL>
                    <a:lnR>
                      <a:noFill/>
                    </a:lnR>
                    <a:lnT>
                      <a:noFill/>
                    </a:lnT>
                    <a:lnB>
                      <a:noFill/>
                    </a:lnB>
                    <a:solidFill>
                      <a:srgbClr val="FAFAF9"/>
                    </a:solidFill>
                  </a:tcPr>
                </a:tc>
                <a:extLst>
                  <a:ext uri="{0D108BD9-81ED-4DB2-BD59-A6C34878D82A}">
                    <a16:rowId xmlns:a16="http://schemas.microsoft.com/office/drawing/2014/main" val="10002"/>
                  </a:ext>
                </a:extLst>
              </a:tr>
              <a:tr h="248602">
                <a:tc>
                  <a:txBody>
                    <a:bodyPr/>
                    <a:lstStyle/>
                    <a:p>
                      <a:pPr algn="l"/>
                      <a:endParaRPr sz="1950" b="1" i="0" u="none">
                        <a:solidFill>
                          <a:srgbClr val="0F766E"/>
                        </a:solidFill>
                        <a:latin typeface="Georgia"/>
                      </a:endParaRPr>
                    </a:p>
                  </a:txBody>
                  <a:tcPr marL="63500" marR="63500" marT="25400" marB="25400" anchor="ctr">
                    <a:lnL>
                      <a:noFill/>
                    </a:lnL>
                    <a:lnR>
                      <a:noFill/>
                    </a:lnR>
                    <a:lnT>
                      <a:noFill/>
                    </a:lnT>
                    <a:lnB>
                      <a:noFill/>
                    </a:lnB>
                    <a:solidFill>
                      <a:srgbClr val="FAFAF9"/>
                    </a:solidFill>
                  </a:tcPr>
                </a:tc>
                <a:tc>
                  <a:txBody>
                    <a:bodyPr/>
                    <a:lstStyle/>
                    <a:p>
                      <a:pPr algn="l"/>
                      <a:endParaRPr sz="1950" b="0" i="0" u="none">
                        <a:solidFill>
                          <a:srgbClr val="27272A"/>
                        </a:solidFill>
                        <a:latin typeface="Calibri"/>
                      </a:endParaRPr>
                    </a:p>
                  </a:txBody>
                  <a:tcPr marL="63500" marR="63500" marT="25400" marB="25400" anchor="ctr">
                    <a:lnL>
                      <a:noFill/>
                    </a:lnL>
                    <a:lnR>
                      <a:noFill/>
                    </a:lnR>
                    <a:lnT>
                      <a:noFill/>
                    </a:lnT>
                    <a:lnB>
                      <a:noFill/>
                    </a:lnB>
                    <a:solidFill>
                      <a:srgbClr val="FAFAF9"/>
                    </a:solidFill>
                  </a:tcPr>
                </a:tc>
                <a:extLst>
                  <a:ext uri="{0D108BD9-81ED-4DB2-BD59-A6C34878D82A}">
                    <a16:rowId xmlns:a16="http://schemas.microsoft.com/office/drawing/2014/main" val="10003"/>
                  </a:ext>
                </a:extLst>
              </a:tr>
              <a:tr h="248602">
                <a:tc>
                  <a:txBody>
                    <a:bodyPr/>
                    <a:lstStyle/>
                    <a:p>
                      <a:pPr algn="l"/>
                      <a:endParaRPr sz="1950" b="1" i="0" u="none">
                        <a:solidFill>
                          <a:srgbClr val="0F766E"/>
                        </a:solidFill>
                        <a:latin typeface="Georgia"/>
                      </a:endParaRPr>
                    </a:p>
                  </a:txBody>
                  <a:tcPr marL="63500" marR="63500" marT="25400" marB="25400" anchor="ctr">
                    <a:lnL>
                      <a:noFill/>
                    </a:lnL>
                    <a:lnR>
                      <a:noFill/>
                    </a:lnR>
                    <a:lnT>
                      <a:noFill/>
                    </a:lnT>
                    <a:lnB>
                      <a:noFill/>
                    </a:lnB>
                    <a:solidFill>
                      <a:srgbClr val="FAFAF9"/>
                    </a:solidFill>
                  </a:tcPr>
                </a:tc>
                <a:tc>
                  <a:txBody>
                    <a:bodyPr/>
                    <a:lstStyle/>
                    <a:p>
                      <a:pPr algn="l"/>
                      <a:endParaRPr sz="1950" b="0" i="0" u="none">
                        <a:solidFill>
                          <a:srgbClr val="27272A"/>
                        </a:solidFill>
                        <a:latin typeface="Calibri"/>
                      </a:endParaRPr>
                    </a:p>
                  </a:txBody>
                  <a:tcPr marL="63500" marR="63500" marT="25400" marB="25400" anchor="ctr">
                    <a:lnL>
                      <a:noFill/>
                    </a:lnL>
                    <a:lnR>
                      <a:noFill/>
                    </a:lnR>
                    <a:lnT>
                      <a:noFill/>
                    </a:lnT>
                    <a:lnB>
                      <a:noFill/>
                    </a:lnB>
                    <a:solidFill>
                      <a:srgbClr val="FAFAF9"/>
                    </a:solidFill>
                  </a:tcPr>
                </a:tc>
                <a:extLst>
                  <a:ext uri="{0D108BD9-81ED-4DB2-BD59-A6C34878D82A}">
                    <a16:rowId xmlns:a16="http://schemas.microsoft.com/office/drawing/2014/main" val="10004"/>
                  </a:ext>
                </a:extLst>
              </a:tr>
              <a:tr h="248602">
                <a:tc>
                  <a:txBody>
                    <a:bodyPr/>
                    <a:lstStyle/>
                    <a:p>
                      <a:pPr algn="l"/>
                      <a:endParaRPr sz="1950" b="1" i="0" u="none">
                        <a:solidFill>
                          <a:srgbClr val="0F766E"/>
                        </a:solidFill>
                        <a:latin typeface="Georgia"/>
                      </a:endParaRPr>
                    </a:p>
                  </a:txBody>
                  <a:tcPr marL="63500" marR="63500" marT="25400" marB="25400" anchor="ctr">
                    <a:lnL>
                      <a:noFill/>
                    </a:lnL>
                    <a:lnR>
                      <a:noFill/>
                    </a:lnR>
                    <a:lnT>
                      <a:noFill/>
                    </a:lnT>
                    <a:lnB>
                      <a:noFill/>
                    </a:lnB>
                    <a:solidFill>
                      <a:srgbClr val="FAFAF9"/>
                    </a:solidFill>
                  </a:tcPr>
                </a:tc>
                <a:tc>
                  <a:txBody>
                    <a:bodyPr/>
                    <a:lstStyle/>
                    <a:p>
                      <a:pPr algn="l"/>
                      <a:endParaRPr sz="1950" b="0" i="0" u="none" dirty="0">
                        <a:solidFill>
                          <a:srgbClr val="27272A"/>
                        </a:solidFill>
                        <a:latin typeface="Calibri"/>
                      </a:endParaRPr>
                    </a:p>
                  </a:txBody>
                  <a:tcPr marL="63500" marR="63500" marT="25400" marB="25400" anchor="ctr">
                    <a:lnL>
                      <a:noFill/>
                    </a:lnL>
                    <a:lnR>
                      <a:noFill/>
                    </a:lnR>
                    <a:lnT>
                      <a:noFill/>
                    </a:lnT>
                    <a:lnB>
                      <a:noFill/>
                    </a:lnB>
                    <a:solidFill>
                      <a:srgbClr val="FAFAF9"/>
                    </a:solidFill>
                  </a:tcPr>
                </a:tc>
                <a:extLst>
                  <a:ext uri="{0D108BD9-81ED-4DB2-BD59-A6C34878D82A}">
                    <a16:rowId xmlns:a16="http://schemas.microsoft.com/office/drawing/2014/main" val="10005"/>
                  </a:ext>
                </a:extLst>
              </a:tr>
            </a:tbl>
          </a:graphicData>
        </a:graphic>
      </p:graphicFrame>
      <p:pic>
        <p:nvPicPr>
          <p:cNvPr id="26" name="Picture 25" descr="image.png">
            <a:extLst>
              <a:ext uri="{FF2B5EF4-FFF2-40B4-BE49-F238E27FC236}">
                <a16:creationId xmlns:a16="http://schemas.microsoft.com/office/drawing/2014/main" id="{C1822263-7CC8-220E-7002-D5EB392F003E}"/>
              </a:ext>
            </a:extLst>
          </p:cNvPr>
          <p:cNvPicPr>
            <a:picLocks noChangeAspect="1"/>
          </p:cNvPicPr>
          <p:nvPr/>
        </p:nvPicPr>
        <p:blipFill>
          <a:blip r:embed="rId4"/>
          <a:stretch>
            <a:fillRect/>
          </a:stretch>
        </p:blipFill>
        <p:spPr>
          <a:xfrm>
            <a:off x="8389835" y="1388671"/>
            <a:ext cx="304800" cy="304800"/>
          </a:xfrm>
          <a:prstGeom prst="rect">
            <a:avLst/>
          </a:prstGeom>
        </p:spPr>
      </p:pic>
      <p:sp>
        <p:nvSpPr>
          <p:cNvPr id="30" name="TextBox 29">
            <a:extLst>
              <a:ext uri="{FF2B5EF4-FFF2-40B4-BE49-F238E27FC236}">
                <a16:creationId xmlns:a16="http://schemas.microsoft.com/office/drawing/2014/main" id="{D82F0AD2-5872-D6F2-64C9-04CA9EC71E8E}"/>
              </a:ext>
            </a:extLst>
          </p:cNvPr>
          <p:cNvSpPr txBox="1"/>
          <p:nvPr/>
        </p:nvSpPr>
        <p:spPr>
          <a:xfrm>
            <a:off x="828748" y="1973990"/>
            <a:ext cx="2940099" cy="1938992"/>
          </a:xfrm>
          <a:prstGeom prst="rect">
            <a:avLst/>
          </a:prstGeom>
          <a:noFill/>
        </p:spPr>
        <p:txBody>
          <a:bodyPr wrap="square" lIns="0" tIns="0" rIns="0" bIns="0" anchor="t">
            <a:spAutoFit/>
          </a:bodyPr>
          <a:lstStyle/>
          <a:p>
            <a:pPr algn="l"/>
            <a:r>
              <a:rPr sz="1800" b="0" i="0">
                <a:solidFill>
                  <a:srgbClr val="27272A"/>
                </a:solidFill>
                <a:latin typeface="Calibri"/>
              </a:rPr>
              <a:t>It is a filter feeder. Its polyps capture suspended plankton and other microscopic organic particles from the water.</a:t>
            </a:r>
            <a:endParaRPr sz="1800">
              <a:solidFill>
                <a:srgbClr val="27272A"/>
              </a:solidFill>
            </a:endParaRPr>
          </a:p>
        </p:txBody>
      </p:sp>
      <p:sp>
        <p:nvSpPr>
          <p:cNvPr id="32" name="TextBox 31">
            <a:extLst>
              <a:ext uri="{FF2B5EF4-FFF2-40B4-BE49-F238E27FC236}">
                <a16:creationId xmlns:a16="http://schemas.microsoft.com/office/drawing/2014/main" id="{4040407E-1C84-D8A0-47E5-FA20DF796E52}"/>
              </a:ext>
            </a:extLst>
          </p:cNvPr>
          <p:cNvSpPr txBox="1"/>
          <p:nvPr/>
        </p:nvSpPr>
        <p:spPr>
          <a:xfrm>
            <a:off x="948430" y="1345935"/>
            <a:ext cx="2465419" cy="369332"/>
          </a:xfrm>
          <a:prstGeom prst="rect">
            <a:avLst/>
          </a:prstGeom>
          <a:noFill/>
        </p:spPr>
        <p:txBody>
          <a:bodyPr wrap="none" lIns="0" tIns="0" rIns="0" bIns="0" anchor="ctr">
            <a:spAutoFit/>
          </a:bodyPr>
          <a:lstStyle/>
          <a:p>
            <a:pPr algn="l"/>
            <a:r>
              <a:rPr lang="en-US" sz="2400" b="1" i="0" u="none" dirty="0">
                <a:solidFill>
                  <a:srgbClr val="D97706"/>
                </a:solidFill>
                <a:latin typeface="Georgia"/>
              </a:rPr>
              <a:t>Food &amp; Feeding</a:t>
            </a:r>
            <a:endParaRPr sz="2400" b="1" i="0" u="none" dirty="0">
              <a:solidFill>
                <a:srgbClr val="D97706"/>
              </a:solidFill>
              <a:latin typeface="Georgia"/>
            </a:endParaRPr>
          </a:p>
        </p:txBody>
      </p:sp>
      <p:sp>
        <p:nvSpPr>
          <p:cNvPr id="33" name="TextBox 32">
            <a:extLst>
              <a:ext uri="{FF2B5EF4-FFF2-40B4-BE49-F238E27FC236}">
                <a16:creationId xmlns:a16="http://schemas.microsoft.com/office/drawing/2014/main" id="{8514A27D-EAB1-37B4-D765-F44C2A43F4A7}"/>
              </a:ext>
            </a:extLst>
          </p:cNvPr>
          <p:cNvSpPr txBox="1"/>
          <p:nvPr/>
        </p:nvSpPr>
        <p:spPr>
          <a:xfrm>
            <a:off x="8679327" y="1990695"/>
            <a:ext cx="2940099" cy="2585323"/>
          </a:xfrm>
          <a:prstGeom prst="rect">
            <a:avLst/>
          </a:prstGeom>
          <a:noFill/>
        </p:spPr>
        <p:txBody>
          <a:bodyPr wrap="square" rtlCol="0">
            <a:spAutoFit/>
          </a:bodyPr>
          <a:lstStyle/>
          <a:p>
            <a:pPr algn="l"/>
            <a:r>
              <a:rPr sz="1800" b="0" i="0">
                <a:solidFill>
                  <a:srgbClr val="27272A"/>
                </a:solidFill>
                <a:latin typeface="Calibri"/>
              </a:rPr>
              <a:t>It helps structure soft-bottom habitats, providing shelter and microhabitat for other small organisms. Though having little direct value as a harvested species, it supports a healthy seabed ecosystem that benefits fisheries and biodiversity.</a:t>
            </a:r>
            <a:endParaRPr sz="1800">
              <a:solidFill>
                <a:srgbClr val="27272A"/>
              </a:solidFill>
            </a:endParaRPr>
          </a:p>
        </p:txBody>
      </p:sp>
      <p:sp>
        <p:nvSpPr>
          <p:cNvPr id="34" name="Arrow: Right 33">
            <a:extLst>
              <a:ext uri="{FF2B5EF4-FFF2-40B4-BE49-F238E27FC236}">
                <a16:creationId xmlns:a16="http://schemas.microsoft.com/office/drawing/2014/main" id="{DAD54B48-45D5-240D-5A86-DDEC0B9B905B}"/>
              </a:ext>
            </a:extLst>
          </p:cNvPr>
          <p:cNvSpPr/>
          <p:nvPr/>
        </p:nvSpPr>
        <p:spPr>
          <a:xfrm>
            <a:off x="609600" y="1398628"/>
            <a:ext cx="241459" cy="247125"/>
          </a:xfrm>
          <a:prstGeom prst="rightArrow">
            <a:avLst/>
          </a:prstGeom>
          <a:solidFill>
            <a:schemeClr val="accent6">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083637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sp>
        <p:nvSpPr>
          <p:cNvPr id="2" name="Rectangle 1"/>
          <p:cNvSpPr/>
          <p:nvPr/>
        </p:nvSpPr>
        <p:spPr>
          <a:xfrm>
            <a:off x="0" y="6334125"/>
            <a:ext cx="12192000" cy="523875"/>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34125"/>
            <a:ext cx="12192000" cy="952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617519" y="3926383"/>
            <a:ext cx="8229600" cy="45719"/>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081970" y="2654363"/>
            <a:ext cx="5580384" cy="866775"/>
          </a:xfrm>
          <a:prstGeom prst="rect">
            <a:avLst/>
          </a:prstGeom>
          <a:noFill/>
        </p:spPr>
        <p:txBody>
          <a:bodyPr wrap="none" lIns="0" tIns="0" rIns="0" bIns="0" anchor="t">
            <a:spAutoFit/>
          </a:bodyPr>
          <a:lstStyle/>
          <a:p>
            <a:pPr algn="ctr"/>
            <a:r>
              <a:rPr sz="6000" b="1" i="0" u="none" dirty="0">
                <a:solidFill>
                  <a:srgbClr val="0F766E"/>
                </a:solidFill>
                <a:latin typeface="Georgia"/>
              </a:rPr>
              <a:t>Thank You</a:t>
            </a:r>
          </a:p>
        </p:txBody>
      </p:sp>
      <p:sp>
        <p:nvSpPr>
          <p:cNvPr id="8" name="TextBox 7"/>
          <p:cNvSpPr txBox="1"/>
          <p:nvPr/>
        </p:nvSpPr>
        <p:spPr>
          <a:xfrm>
            <a:off x="4294094" y="6524065"/>
            <a:ext cx="5262562" cy="209550"/>
          </a:xfrm>
          <a:prstGeom prst="rect">
            <a:avLst/>
          </a:prstGeom>
          <a:noFill/>
        </p:spPr>
        <p:txBody>
          <a:bodyPr wrap="none" lIns="0" tIns="0" rIns="0" bIns="0" anchor="t">
            <a:spAutoFit/>
          </a:bodyPr>
          <a:lstStyle/>
          <a:p>
            <a:pPr algn="ctr"/>
            <a:r>
              <a:rPr sz="1200" b="0" i="0">
                <a:solidFill>
                  <a:srgbClr val="737373"/>
                </a:solidFill>
                <a:latin typeface="Calibri"/>
              </a:rPr>
              <a:t>Dept. of Zoology, University of Dhaka</a:t>
            </a:r>
            <a:endParaRPr sz="1200">
              <a:solidFill>
                <a:srgbClr val="737373"/>
              </a:solidFill>
            </a:endParaRPr>
          </a:p>
        </p:txBody>
      </p:sp>
    </p:spTree>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Film Burn</Template>
  <TotalTime>198</TotalTime>
  <Words>963</Words>
  <Application>Microsoft Office PowerPoint</Application>
  <PresentationFormat>Widescreen</PresentationFormat>
  <Paragraphs>115</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2</cp:revision>
  <dcterms:created xsi:type="dcterms:W3CDTF">2013-01-27T09:14:16Z</dcterms:created>
  <dcterms:modified xsi:type="dcterms:W3CDTF">2026-10-20T13:47:06Z</dcterms:modified>
  <cp:category/>
</cp:coreProperties>
</file>